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75" r:id="rId12"/>
    <p:sldId id="274" r:id="rId13"/>
    <p:sldId id="273" r:id="rId14"/>
    <p:sldId id="272" r:id="rId15"/>
    <p:sldId id="271" r:id="rId16"/>
    <p:sldId id="270" r:id="rId17"/>
    <p:sldId id="269" r:id="rId18"/>
    <p:sldId id="268" r:id="rId19"/>
    <p:sldId id="267" r:id="rId20"/>
    <p:sldId id="281" r:id="rId21"/>
    <p:sldId id="280" r:id="rId22"/>
    <p:sldId id="279" r:id="rId23"/>
    <p:sldId id="278" r:id="rId24"/>
    <p:sldId id="276" r:id="rId25"/>
    <p:sldId id="27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Ede" userId="e68c78e8-4cae-4974-bad3-a81d74b199be" providerId="ADAL" clId="{749C845B-D8EB-4437-999B-5653F76F1ED3}"/>
    <pc:docChg chg="custSel modSld">
      <pc:chgData name="Daniel Ede" userId="e68c78e8-4cae-4974-bad3-a81d74b199be" providerId="ADAL" clId="{749C845B-D8EB-4437-999B-5653F76F1ED3}" dt="2025-03-17T13:19:21.503" v="3" actId="6549"/>
      <pc:docMkLst>
        <pc:docMk/>
      </pc:docMkLst>
      <pc:sldChg chg="modSp mod">
        <pc:chgData name="Daniel Ede" userId="e68c78e8-4cae-4974-bad3-a81d74b199be" providerId="ADAL" clId="{749C845B-D8EB-4437-999B-5653F76F1ED3}" dt="2025-03-17T13:19:21.503" v="3" actId="6549"/>
        <pc:sldMkLst>
          <pc:docMk/>
          <pc:sldMk cId="2590989864" sldId="276"/>
        </pc:sldMkLst>
        <pc:spChg chg="mod">
          <ac:chgData name="Daniel Ede" userId="e68c78e8-4cae-4974-bad3-a81d74b199be" providerId="ADAL" clId="{749C845B-D8EB-4437-999B-5653F76F1ED3}" dt="2025-03-17T13:19:21.503" v="3" actId="6549"/>
          <ac:spMkLst>
            <pc:docMk/>
            <pc:sldMk cId="2590989864" sldId="276"/>
            <ac:spMk id="3" creationId="{5F94BBEB-C83C-8AB5-2F32-17E6C7E510B6}"/>
          </ac:spMkLst>
        </pc:spChg>
      </pc:sldChg>
      <pc:sldChg chg="modSp mod">
        <pc:chgData name="Daniel Ede" userId="e68c78e8-4cae-4974-bad3-a81d74b199be" providerId="ADAL" clId="{749C845B-D8EB-4437-999B-5653F76F1ED3}" dt="2025-03-17T13:17:05.456" v="2" actId="6549"/>
        <pc:sldMkLst>
          <pc:docMk/>
          <pc:sldMk cId="3738900734" sldId="279"/>
        </pc:sldMkLst>
        <pc:spChg chg="mod">
          <ac:chgData name="Daniel Ede" userId="e68c78e8-4cae-4974-bad3-a81d74b199be" providerId="ADAL" clId="{749C845B-D8EB-4437-999B-5653F76F1ED3}" dt="2025-03-17T13:17:05.456" v="2" actId="6549"/>
          <ac:spMkLst>
            <pc:docMk/>
            <pc:sldMk cId="3738900734" sldId="279"/>
            <ac:spMk id="3" creationId="{14F1B34E-A1CE-5BD5-9B03-87782D3E66AC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3F3959-6730-4476-A53F-07ABA58C0EFD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2146D23-2EF2-4CC3-B9D8-78C277D74382}">
      <dgm:prSet phldrT="[Text]" custT="1"/>
      <dgm:spPr/>
      <dgm:t>
        <a:bodyPr/>
        <a:lstStyle/>
        <a:p>
          <a:r>
            <a:rPr lang="en-IN" sz="2000" dirty="0"/>
            <a:t>Master Driver, Master Test Data, Test data, Project Settings file preparation</a:t>
          </a:r>
        </a:p>
      </dgm:t>
    </dgm:pt>
    <dgm:pt modelId="{A850D7A1-BD0E-49F0-A29C-4D02A33F72EE}" type="parTrans" cxnId="{A9CE6D33-055C-43F5-90CA-C1A02F6AEAD1}">
      <dgm:prSet/>
      <dgm:spPr/>
      <dgm:t>
        <a:bodyPr/>
        <a:lstStyle/>
        <a:p>
          <a:endParaRPr lang="en-IN"/>
        </a:p>
      </dgm:t>
    </dgm:pt>
    <dgm:pt modelId="{6C8355A1-7E64-4257-9595-3B9D6DCD8547}" type="sibTrans" cxnId="{A9CE6D33-055C-43F5-90CA-C1A02F6AEAD1}">
      <dgm:prSet/>
      <dgm:spPr/>
      <dgm:t>
        <a:bodyPr/>
        <a:lstStyle/>
        <a:p>
          <a:endParaRPr lang="en-IN"/>
        </a:p>
      </dgm:t>
    </dgm:pt>
    <dgm:pt modelId="{D6DD474D-20B8-43EE-8F12-71689E62115A}">
      <dgm:prSet phldrT="[Text]" custT="1"/>
      <dgm:spPr/>
      <dgm:t>
        <a:bodyPr/>
        <a:lstStyle/>
        <a:p>
          <a:r>
            <a:rPr lang="en-IN" sz="2000" dirty="0"/>
            <a:t>Page Object Models And Components Creation</a:t>
          </a:r>
        </a:p>
      </dgm:t>
    </dgm:pt>
    <dgm:pt modelId="{9A39ED9F-E798-4032-8693-D656F59E1CF9}" type="parTrans" cxnId="{07A6A363-1AFF-4A89-9CA6-046891750017}">
      <dgm:prSet/>
      <dgm:spPr/>
      <dgm:t>
        <a:bodyPr/>
        <a:lstStyle/>
        <a:p>
          <a:endParaRPr lang="en-IN"/>
        </a:p>
      </dgm:t>
    </dgm:pt>
    <dgm:pt modelId="{5F4ED806-9E6C-4E0C-9984-4AB23D39D400}" type="sibTrans" cxnId="{07A6A363-1AFF-4A89-9CA6-046891750017}">
      <dgm:prSet/>
      <dgm:spPr/>
      <dgm:t>
        <a:bodyPr/>
        <a:lstStyle/>
        <a:p>
          <a:endParaRPr lang="en-IN"/>
        </a:p>
      </dgm:t>
    </dgm:pt>
    <dgm:pt modelId="{F20C47C8-54A9-4094-A4C7-50B0EF5C8490}">
      <dgm:prSet phldrT="[Text]" custT="1"/>
      <dgm:spPr/>
      <dgm:t>
        <a:bodyPr/>
        <a:lstStyle/>
        <a:p>
          <a:r>
            <a:rPr lang="en-IN" sz="2000" dirty="0"/>
            <a:t>Script Execution</a:t>
          </a:r>
        </a:p>
      </dgm:t>
    </dgm:pt>
    <dgm:pt modelId="{C1A437B6-4E85-459A-8B9A-BB9D677B4C7C}" type="parTrans" cxnId="{B579CFB5-DFBD-4261-8429-53B5560813B3}">
      <dgm:prSet/>
      <dgm:spPr/>
      <dgm:t>
        <a:bodyPr/>
        <a:lstStyle/>
        <a:p>
          <a:endParaRPr lang="en-IN"/>
        </a:p>
      </dgm:t>
    </dgm:pt>
    <dgm:pt modelId="{8E410A80-8EAA-44ED-A182-1C8BC7945A85}" type="sibTrans" cxnId="{B579CFB5-DFBD-4261-8429-53B5560813B3}">
      <dgm:prSet/>
      <dgm:spPr/>
      <dgm:t>
        <a:bodyPr/>
        <a:lstStyle/>
        <a:p>
          <a:endParaRPr lang="en-IN"/>
        </a:p>
      </dgm:t>
    </dgm:pt>
    <dgm:pt modelId="{FBB53B19-A213-4551-903F-6F552E2E5567}">
      <dgm:prSet phldrT="[Text]" custT="1"/>
      <dgm:spPr/>
      <dgm:t>
        <a:bodyPr/>
        <a:lstStyle/>
        <a:p>
          <a:r>
            <a:rPr lang="en-IN" sz="2000" dirty="0"/>
            <a:t>Framework Execution Results And PR Creation</a:t>
          </a:r>
        </a:p>
      </dgm:t>
    </dgm:pt>
    <dgm:pt modelId="{9102993E-2974-41AF-82C1-DDA06C6FC6DB}" type="parTrans" cxnId="{87985CE0-8511-45B5-96FF-7981146788F0}">
      <dgm:prSet/>
      <dgm:spPr/>
      <dgm:t>
        <a:bodyPr/>
        <a:lstStyle/>
        <a:p>
          <a:endParaRPr lang="en-IN"/>
        </a:p>
      </dgm:t>
    </dgm:pt>
    <dgm:pt modelId="{18C5B4C8-B89F-4E23-963F-2880BDAB3FF7}" type="sibTrans" cxnId="{87985CE0-8511-45B5-96FF-7981146788F0}">
      <dgm:prSet/>
      <dgm:spPr/>
      <dgm:t>
        <a:bodyPr/>
        <a:lstStyle/>
        <a:p>
          <a:endParaRPr lang="en-IN"/>
        </a:p>
      </dgm:t>
    </dgm:pt>
    <dgm:pt modelId="{7E16BC23-3117-4204-9CA1-42D791AB1D32}">
      <dgm:prSet phldrT="[Text]" custT="1"/>
      <dgm:spPr/>
      <dgm:t>
        <a:bodyPr/>
        <a:lstStyle/>
        <a:p>
          <a:r>
            <a:rPr lang="en-IN" sz="2000" dirty="0"/>
            <a:t>Clone Repos and Import Into Eclipse</a:t>
          </a:r>
        </a:p>
      </dgm:t>
    </dgm:pt>
    <dgm:pt modelId="{7466B80B-D6AE-48A4-9E9E-3CF639062A3D}" type="sibTrans" cxnId="{7C4569EB-F23E-4C1D-8DA6-07F459C91173}">
      <dgm:prSet/>
      <dgm:spPr/>
      <dgm:t>
        <a:bodyPr/>
        <a:lstStyle/>
        <a:p>
          <a:endParaRPr lang="en-IN"/>
        </a:p>
      </dgm:t>
    </dgm:pt>
    <dgm:pt modelId="{EE4B00FC-25A8-4089-9D5C-AAA0A53695DA}" type="parTrans" cxnId="{7C4569EB-F23E-4C1D-8DA6-07F459C91173}">
      <dgm:prSet/>
      <dgm:spPr/>
      <dgm:t>
        <a:bodyPr/>
        <a:lstStyle/>
        <a:p>
          <a:endParaRPr lang="en-IN"/>
        </a:p>
      </dgm:t>
    </dgm:pt>
    <dgm:pt modelId="{D6697646-3162-4CD6-9B6D-65AE37BE21B8}" type="pres">
      <dgm:prSet presAssocID="{D53F3959-6730-4476-A53F-07ABA58C0EFD}" presName="Name0" presStyleCnt="0">
        <dgm:presLayoutVars>
          <dgm:dir/>
          <dgm:animLvl val="lvl"/>
          <dgm:resizeHandles val="exact"/>
        </dgm:presLayoutVars>
      </dgm:prSet>
      <dgm:spPr/>
    </dgm:pt>
    <dgm:pt modelId="{D110589A-A47B-4303-9D60-FA339AA871AE}" type="pres">
      <dgm:prSet presAssocID="{FBB53B19-A213-4551-903F-6F552E2E5567}" presName="boxAndChildren" presStyleCnt="0"/>
      <dgm:spPr/>
    </dgm:pt>
    <dgm:pt modelId="{0268341A-B0DA-4730-8AFB-5FF8ECA1862D}" type="pres">
      <dgm:prSet presAssocID="{FBB53B19-A213-4551-903F-6F552E2E5567}" presName="parentTextBox" presStyleLbl="node1" presStyleIdx="0" presStyleCnt="5" custLinFactNeighborX="99"/>
      <dgm:spPr/>
    </dgm:pt>
    <dgm:pt modelId="{2E74D111-6605-48A7-99B8-014B1CBA1F41}" type="pres">
      <dgm:prSet presAssocID="{8E410A80-8EAA-44ED-A182-1C8BC7945A85}" presName="sp" presStyleCnt="0"/>
      <dgm:spPr/>
    </dgm:pt>
    <dgm:pt modelId="{CA585B9E-D2BD-4063-9AE9-EC183E314A17}" type="pres">
      <dgm:prSet presAssocID="{F20C47C8-54A9-4094-A4C7-50B0EF5C8490}" presName="arrowAndChildren" presStyleCnt="0"/>
      <dgm:spPr/>
    </dgm:pt>
    <dgm:pt modelId="{50561FBF-3201-4859-BE8E-76536FB2C600}" type="pres">
      <dgm:prSet presAssocID="{F20C47C8-54A9-4094-A4C7-50B0EF5C8490}" presName="parentTextArrow" presStyleLbl="node1" presStyleIdx="1" presStyleCnt="5"/>
      <dgm:spPr/>
    </dgm:pt>
    <dgm:pt modelId="{6AC13F6F-D83D-4627-9CC7-970482E4803C}" type="pres">
      <dgm:prSet presAssocID="{5F4ED806-9E6C-4E0C-9984-4AB23D39D400}" presName="sp" presStyleCnt="0"/>
      <dgm:spPr/>
    </dgm:pt>
    <dgm:pt modelId="{28DCCD07-5F05-479D-8C0A-D63E106B0F0E}" type="pres">
      <dgm:prSet presAssocID="{D6DD474D-20B8-43EE-8F12-71689E62115A}" presName="arrowAndChildren" presStyleCnt="0"/>
      <dgm:spPr/>
    </dgm:pt>
    <dgm:pt modelId="{E463BDC9-642D-4C27-9529-930D6176CFFD}" type="pres">
      <dgm:prSet presAssocID="{D6DD474D-20B8-43EE-8F12-71689E62115A}" presName="parentTextArrow" presStyleLbl="node1" presStyleIdx="2" presStyleCnt="5"/>
      <dgm:spPr/>
    </dgm:pt>
    <dgm:pt modelId="{469F7D56-37EF-4A30-9FD7-682881E52AAA}" type="pres">
      <dgm:prSet presAssocID="{6C8355A1-7E64-4257-9595-3B9D6DCD8547}" presName="sp" presStyleCnt="0"/>
      <dgm:spPr/>
    </dgm:pt>
    <dgm:pt modelId="{5D9F3E3A-764B-4732-91D7-D5BEBCDDBC9F}" type="pres">
      <dgm:prSet presAssocID="{12146D23-2EF2-4CC3-B9D8-78C277D74382}" presName="arrowAndChildren" presStyleCnt="0"/>
      <dgm:spPr/>
    </dgm:pt>
    <dgm:pt modelId="{59625057-7C79-4C39-B184-F7F4ECB05E95}" type="pres">
      <dgm:prSet presAssocID="{12146D23-2EF2-4CC3-B9D8-78C277D74382}" presName="parentTextArrow" presStyleLbl="node1" presStyleIdx="3" presStyleCnt="5"/>
      <dgm:spPr/>
    </dgm:pt>
    <dgm:pt modelId="{F51063C3-A3CE-4235-8F74-28A7160D7BBF}" type="pres">
      <dgm:prSet presAssocID="{7466B80B-D6AE-48A4-9E9E-3CF639062A3D}" presName="sp" presStyleCnt="0"/>
      <dgm:spPr/>
    </dgm:pt>
    <dgm:pt modelId="{A21A7A08-822D-4B84-BBA4-5E20E6BDBBDA}" type="pres">
      <dgm:prSet presAssocID="{7E16BC23-3117-4204-9CA1-42D791AB1D32}" presName="arrowAndChildren" presStyleCnt="0"/>
      <dgm:spPr/>
    </dgm:pt>
    <dgm:pt modelId="{9ABA9E15-9132-401B-BF7C-AFF499742377}" type="pres">
      <dgm:prSet presAssocID="{7E16BC23-3117-4204-9CA1-42D791AB1D32}" presName="parentTextArrow" presStyleLbl="node1" presStyleIdx="4" presStyleCnt="5"/>
      <dgm:spPr/>
    </dgm:pt>
  </dgm:ptLst>
  <dgm:cxnLst>
    <dgm:cxn modelId="{A9CE6D33-055C-43F5-90CA-C1A02F6AEAD1}" srcId="{D53F3959-6730-4476-A53F-07ABA58C0EFD}" destId="{12146D23-2EF2-4CC3-B9D8-78C277D74382}" srcOrd="1" destOrd="0" parTransId="{A850D7A1-BD0E-49F0-A29C-4D02A33F72EE}" sibTransId="{6C8355A1-7E64-4257-9595-3B9D6DCD8547}"/>
    <dgm:cxn modelId="{07A6A363-1AFF-4A89-9CA6-046891750017}" srcId="{D53F3959-6730-4476-A53F-07ABA58C0EFD}" destId="{D6DD474D-20B8-43EE-8F12-71689E62115A}" srcOrd="2" destOrd="0" parTransId="{9A39ED9F-E798-4032-8693-D656F59E1CF9}" sibTransId="{5F4ED806-9E6C-4E0C-9984-4AB23D39D400}"/>
    <dgm:cxn modelId="{176CAB91-3154-4F43-9CB1-035844F05600}" type="presOf" srcId="{12146D23-2EF2-4CC3-B9D8-78C277D74382}" destId="{59625057-7C79-4C39-B184-F7F4ECB05E95}" srcOrd="0" destOrd="0" presId="urn:microsoft.com/office/officeart/2005/8/layout/process4"/>
    <dgm:cxn modelId="{A3828FB0-869B-4442-A8F7-CFAB24D6C68E}" type="presOf" srcId="{D53F3959-6730-4476-A53F-07ABA58C0EFD}" destId="{D6697646-3162-4CD6-9B6D-65AE37BE21B8}" srcOrd="0" destOrd="0" presId="urn:microsoft.com/office/officeart/2005/8/layout/process4"/>
    <dgm:cxn modelId="{B579CFB5-DFBD-4261-8429-53B5560813B3}" srcId="{D53F3959-6730-4476-A53F-07ABA58C0EFD}" destId="{F20C47C8-54A9-4094-A4C7-50B0EF5C8490}" srcOrd="3" destOrd="0" parTransId="{C1A437B6-4E85-459A-8B9A-BB9D677B4C7C}" sibTransId="{8E410A80-8EAA-44ED-A182-1C8BC7945A85}"/>
    <dgm:cxn modelId="{B1D6D3BE-9F3C-4C73-832D-EF9F171A5F32}" type="presOf" srcId="{7E16BC23-3117-4204-9CA1-42D791AB1D32}" destId="{9ABA9E15-9132-401B-BF7C-AFF499742377}" srcOrd="0" destOrd="0" presId="urn:microsoft.com/office/officeart/2005/8/layout/process4"/>
    <dgm:cxn modelId="{A57303CB-8561-46EA-AAB2-F930D1244EE5}" type="presOf" srcId="{F20C47C8-54A9-4094-A4C7-50B0EF5C8490}" destId="{50561FBF-3201-4859-BE8E-76536FB2C600}" srcOrd="0" destOrd="0" presId="urn:microsoft.com/office/officeart/2005/8/layout/process4"/>
    <dgm:cxn modelId="{3F096DD4-B019-4545-9AF6-61595744E626}" type="presOf" srcId="{FBB53B19-A213-4551-903F-6F552E2E5567}" destId="{0268341A-B0DA-4730-8AFB-5FF8ECA1862D}" srcOrd="0" destOrd="0" presId="urn:microsoft.com/office/officeart/2005/8/layout/process4"/>
    <dgm:cxn modelId="{87985CE0-8511-45B5-96FF-7981146788F0}" srcId="{D53F3959-6730-4476-A53F-07ABA58C0EFD}" destId="{FBB53B19-A213-4551-903F-6F552E2E5567}" srcOrd="4" destOrd="0" parTransId="{9102993E-2974-41AF-82C1-DDA06C6FC6DB}" sibTransId="{18C5B4C8-B89F-4E23-963F-2880BDAB3FF7}"/>
    <dgm:cxn modelId="{7C4569EB-F23E-4C1D-8DA6-07F459C91173}" srcId="{D53F3959-6730-4476-A53F-07ABA58C0EFD}" destId="{7E16BC23-3117-4204-9CA1-42D791AB1D32}" srcOrd="0" destOrd="0" parTransId="{EE4B00FC-25A8-4089-9D5C-AAA0A53695DA}" sibTransId="{7466B80B-D6AE-48A4-9E9E-3CF639062A3D}"/>
    <dgm:cxn modelId="{E2D259FD-5002-4649-82CF-C102D908B591}" type="presOf" srcId="{D6DD474D-20B8-43EE-8F12-71689E62115A}" destId="{E463BDC9-642D-4C27-9529-930D6176CFFD}" srcOrd="0" destOrd="0" presId="urn:microsoft.com/office/officeart/2005/8/layout/process4"/>
    <dgm:cxn modelId="{B15FE82D-FACF-4E72-B689-D30E9C24B70F}" type="presParOf" srcId="{D6697646-3162-4CD6-9B6D-65AE37BE21B8}" destId="{D110589A-A47B-4303-9D60-FA339AA871AE}" srcOrd="0" destOrd="0" presId="urn:microsoft.com/office/officeart/2005/8/layout/process4"/>
    <dgm:cxn modelId="{5F28FF18-2DC6-4623-B868-2786542D8B18}" type="presParOf" srcId="{D110589A-A47B-4303-9D60-FA339AA871AE}" destId="{0268341A-B0DA-4730-8AFB-5FF8ECA1862D}" srcOrd="0" destOrd="0" presId="urn:microsoft.com/office/officeart/2005/8/layout/process4"/>
    <dgm:cxn modelId="{F69D05F6-AC28-49C2-9192-2B5926C06BB9}" type="presParOf" srcId="{D6697646-3162-4CD6-9B6D-65AE37BE21B8}" destId="{2E74D111-6605-48A7-99B8-014B1CBA1F41}" srcOrd="1" destOrd="0" presId="urn:microsoft.com/office/officeart/2005/8/layout/process4"/>
    <dgm:cxn modelId="{50B1BCE1-BFAD-4416-BB75-E14BE5B24059}" type="presParOf" srcId="{D6697646-3162-4CD6-9B6D-65AE37BE21B8}" destId="{CA585B9E-D2BD-4063-9AE9-EC183E314A17}" srcOrd="2" destOrd="0" presId="urn:microsoft.com/office/officeart/2005/8/layout/process4"/>
    <dgm:cxn modelId="{462AF443-3F50-4348-B8AB-EA8BCEF40379}" type="presParOf" srcId="{CA585B9E-D2BD-4063-9AE9-EC183E314A17}" destId="{50561FBF-3201-4859-BE8E-76536FB2C600}" srcOrd="0" destOrd="0" presId="urn:microsoft.com/office/officeart/2005/8/layout/process4"/>
    <dgm:cxn modelId="{A2BDF966-D690-4386-A326-17045654CB8A}" type="presParOf" srcId="{D6697646-3162-4CD6-9B6D-65AE37BE21B8}" destId="{6AC13F6F-D83D-4627-9CC7-970482E4803C}" srcOrd="3" destOrd="0" presId="urn:microsoft.com/office/officeart/2005/8/layout/process4"/>
    <dgm:cxn modelId="{BF4CA245-88F6-4048-AE5E-4B8167B03563}" type="presParOf" srcId="{D6697646-3162-4CD6-9B6D-65AE37BE21B8}" destId="{28DCCD07-5F05-479D-8C0A-D63E106B0F0E}" srcOrd="4" destOrd="0" presId="urn:microsoft.com/office/officeart/2005/8/layout/process4"/>
    <dgm:cxn modelId="{B1E84D1C-FE3F-4292-9E76-1AA7A3CA38A8}" type="presParOf" srcId="{28DCCD07-5F05-479D-8C0A-D63E106B0F0E}" destId="{E463BDC9-642D-4C27-9529-930D6176CFFD}" srcOrd="0" destOrd="0" presId="urn:microsoft.com/office/officeart/2005/8/layout/process4"/>
    <dgm:cxn modelId="{3D1E6BD0-537E-460E-B6A7-2CBA5DFDC607}" type="presParOf" srcId="{D6697646-3162-4CD6-9B6D-65AE37BE21B8}" destId="{469F7D56-37EF-4A30-9FD7-682881E52AAA}" srcOrd="5" destOrd="0" presId="urn:microsoft.com/office/officeart/2005/8/layout/process4"/>
    <dgm:cxn modelId="{3BF656E5-763C-481E-A8D3-C6DD44B56798}" type="presParOf" srcId="{D6697646-3162-4CD6-9B6D-65AE37BE21B8}" destId="{5D9F3E3A-764B-4732-91D7-D5BEBCDDBC9F}" srcOrd="6" destOrd="0" presId="urn:microsoft.com/office/officeart/2005/8/layout/process4"/>
    <dgm:cxn modelId="{84B8317E-EB63-4743-9AFA-DE93E369F538}" type="presParOf" srcId="{5D9F3E3A-764B-4732-91D7-D5BEBCDDBC9F}" destId="{59625057-7C79-4C39-B184-F7F4ECB05E95}" srcOrd="0" destOrd="0" presId="urn:microsoft.com/office/officeart/2005/8/layout/process4"/>
    <dgm:cxn modelId="{0ECF61FC-646E-48A1-A8B7-0AB9EDD00896}" type="presParOf" srcId="{D6697646-3162-4CD6-9B6D-65AE37BE21B8}" destId="{F51063C3-A3CE-4235-8F74-28A7160D7BBF}" srcOrd="7" destOrd="0" presId="urn:microsoft.com/office/officeart/2005/8/layout/process4"/>
    <dgm:cxn modelId="{150A0FCD-CF84-4E0A-89E7-9C3500E34775}" type="presParOf" srcId="{D6697646-3162-4CD6-9B6D-65AE37BE21B8}" destId="{A21A7A08-822D-4B84-BBA4-5E20E6BDBBDA}" srcOrd="8" destOrd="0" presId="urn:microsoft.com/office/officeart/2005/8/layout/process4"/>
    <dgm:cxn modelId="{394FD2AA-A80A-44BB-9E55-67DCCE7B90C2}" type="presParOf" srcId="{A21A7A08-822D-4B84-BBA4-5E20E6BDBBDA}" destId="{9ABA9E15-9132-401B-BF7C-AFF499742377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68341A-B0DA-4730-8AFB-5FF8ECA1862D}">
      <dsp:nvSpPr>
        <dsp:cNvPr id="0" name=""/>
        <dsp:cNvSpPr/>
      </dsp:nvSpPr>
      <dsp:spPr>
        <a:xfrm>
          <a:off x="0" y="3559066"/>
          <a:ext cx="8128000" cy="5838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Framework Execution Results And PR Creation</a:t>
          </a:r>
        </a:p>
      </dsp:txBody>
      <dsp:txXfrm>
        <a:off x="0" y="3559066"/>
        <a:ext cx="8128000" cy="583894"/>
      </dsp:txXfrm>
    </dsp:sp>
    <dsp:sp modelId="{50561FBF-3201-4859-BE8E-76536FB2C600}">
      <dsp:nvSpPr>
        <dsp:cNvPr id="0" name=""/>
        <dsp:cNvSpPr/>
      </dsp:nvSpPr>
      <dsp:spPr>
        <a:xfrm rot="10800000">
          <a:off x="0" y="2669794"/>
          <a:ext cx="8128000" cy="89802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Script Execution</a:t>
          </a:r>
        </a:p>
      </dsp:txBody>
      <dsp:txXfrm rot="10800000">
        <a:off x="0" y="2669794"/>
        <a:ext cx="8128000" cy="583512"/>
      </dsp:txXfrm>
    </dsp:sp>
    <dsp:sp modelId="{E463BDC9-642D-4C27-9529-930D6176CFFD}">
      <dsp:nvSpPr>
        <dsp:cNvPr id="0" name=""/>
        <dsp:cNvSpPr/>
      </dsp:nvSpPr>
      <dsp:spPr>
        <a:xfrm rot="10800000">
          <a:off x="0" y="1780523"/>
          <a:ext cx="8128000" cy="89802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Page Object Models And Components Creation</a:t>
          </a:r>
        </a:p>
      </dsp:txBody>
      <dsp:txXfrm rot="10800000">
        <a:off x="0" y="1780523"/>
        <a:ext cx="8128000" cy="583512"/>
      </dsp:txXfrm>
    </dsp:sp>
    <dsp:sp modelId="{59625057-7C79-4C39-B184-F7F4ECB05E95}">
      <dsp:nvSpPr>
        <dsp:cNvPr id="0" name=""/>
        <dsp:cNvSpPr/>
      </dsp:nvSpPr>
      <dsp:spPr>
        <a:xfrm rot="10800000">
          <a:off x="0" y="891252"/>
          <a:ext cx="8128000" cy="89802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Master Driver, Master Test Data, Test data, Project Settings file preparation</a:t>
          </a:r>
        </a:p>
      </dsp:txBody>
      <dsp:txXfrm rot="10800000">
        <a:off x="0" y="891252"/>
        <a:ext cx="8128000" cy="583512"/>
      </dsp:txXfrm>
    </dsp:sp>
    <dsp:sp modelId="{9ABA9E15-9132-401B-BF7C-AFF499742377}">
      <dsp:nvSpPr>
        <dsp:cNvPr id="0" name=""/>
        <dsp:cNvSpPr/>
      </dsp:nvSpPr>
      <dsp:spPr>
        <a:xfrm rot="10800000">
          <a:off x="0" y="1981"/>
          <a:ext cx="8128000" cy="89802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Clone Repos and Import Into Eclipse</a:t>
          </a:r>
        </a:p>
      </dsp:txBody>
      <dsp:txXfrm rot="10800000">
        <a:off x="0" y="1981"/>
        <a:ext cx="8128000" cy="5835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85565-B006-412C-1AEA-3557F1E11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F1478B-5159-A446-BF23-1E264A704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294A5-6895-AD29-76F2-2594AF426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7D65E-AB67-4FAB-B008-2125287B9395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DED8E-3FF6-5C74-C608-7F5FA6FA6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B5C2A-5D52-E684-00BE-5656F2547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8ACA-82DC-4F66-9C00-0237932524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465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BECC7-C8AB-C056-BC94-7590B3E71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C792A-BD69-54ED-CA26-4FE431010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06C3C-320E-7492-796B-131CC6FBB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7D65E-AB67-4FAB-B008-2125287B9395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C4C28-68B6-AB85-2E78-5CD07FD90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22179-A6B3-1A01-3D8D-1F8F58C9D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8ACA-82DC-4F66-9C00-0237932524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9863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DB230-F10F-27CF-1613-17D9FB386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A3511-75BC-DE1B-4ADB-E9AA82631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AB773-1B37-F152-24B5-5161EE7DD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7D65E-AB67-4FAB-B008-2125287B9395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75F8B-C7D2-69AA-CE1F-4719E351A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E058B-3669-6BF4-3F9B-858C6329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8ACA-82DC-4F66-9C00-0237932524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4089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63E6B-9EED-43BE-A105-A2BDC96BE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34E4C-AEF5-E5E6-7197-086740E162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609A31-D07B-241B-0FD8-D6699AF811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B7A21E-A6CA-501C-C46B-90EC685B9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7D65E-AB67-4FAB-B008-2125287B9395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EE74E-D137-3C41-A874-9C9848764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195670-5532-3D99-411A-854185930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8ACA-82DC-4F66-9C00-0237932524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1364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AD751-DDD8-D792-8BD7-632CBE8D9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8ACDD-9C18-5951-AB0F-2066FE2F4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A50E1D-ABA4-E1EB-2E92-0A2903CDF1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16B9D0-A543-69CF-0FBC-B278D001CE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2DCE6A-B3E5-5EAA-8795-08C7D5CC95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9BBE3C-D118-70B4-68DF-8ADC6C901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7D65E-AB67-4FAB-B008-2125287B9395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CAB96-41D3-9AA6-011B-3C0E910D8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B599EC-E576-04FA-0382-E961C1E99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8ACA-82DC-4F66-9C00-0237932524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4664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D2749-9635-F5F4-7565-1349B9B2F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4043BD-8329-6A48-66A7-6A1959481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7D65E-AB67-4FAB-B008-2125287B9395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56BFC6-53F9-2C55-F64C-D91A28B98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3FD37-1368-76D9-A0FB-07B8DB1D3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8ACA-82DC-4F66-9C00-0237932524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4156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C8E9CB-CE97-36FC-F189-297A8D435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7D65E-AB67-4FAB-B008-2125287B9395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2AED74-8F59-DA80-26EF-9BA4A0BD3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A02D9-45E0-D837-4DE7-906F6E0DA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8ACA-82DC-4F66-9C00-0237932524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8018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25244-9A72-2065-162C-CF67E8AC0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8EAAC-DA50-C536-6BAE-7E02234D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B8044D-6653-756F-ADAB-39DA80B47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CF2572-5495-CA18-F147-8C08E42C9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7D65E-AB67-4FAB-B008-2125287B9395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8CDB4B-3618-2816-5030-91BFA7450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0F85AB-D5AC-E6C9-FDFA-E8D86729F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8ACA-82DC-4F66-9C00-0237932524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4044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0622F-D19C-459F-E78B-441C5E245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E6DF7F-1961-F14D-AF51-B3AE787C33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F7A749-FBA8-AB3F-AE03-202073C9E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57290-94CE-8CEE-7580-E2BAF317B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7D65E-AB67-4FAB-B008-2125287B9395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8316A-A230-9889-45A9-E68BE9A7D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A35256-82F5-E6B3-FDFB-50C833E39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8ACA-82DC-4F66-9C00-0237932524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0163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BF325-24FB-4D73-7A62-13D0F85BB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29D902-3FCA-50BD-2EB4-34C3F83FB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704CD-3E74-21B7-4AC4-196501213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7D65E-AB67-4FAB-B008-2125287B9395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FDB51-5681-EFE0-8B0E-E8C777C70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36154-0B7A-458C-D1A4-E5D761B9B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8ACA-82DC-4F66-9C00-0237932524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240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12FE73-1ED1-6CE9-E672-974795A99E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4A6029-B539-8C18-482C-73096B4466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8291F-8638-1178-CFBE-98EF4330F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7D65E-AB67-4FAB-B008-2125287B9395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7F1DB-6283-4098-FFBD-FA03BC1E9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1A6EC-7FCC-D49D-3F48-E283C4A07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8ACA-82DC-4F66-9C00-0237932524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150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402388-5CE9-F3F8-0FC5-62DB0B101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E5E31-58BD-6AA2-2FD6-769A75B47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88A1F-458C-989A-03EA-CB9C34F62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87D65E-AB67-4FAB-B008-2125287B9395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F21F1-5F1B-FB61-905F-02F69A4D0A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A6EBE-5B94-0713-1F1F-FDA574A29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AE8ACA-82DC-4F66-9C00-0237932524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5418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bitbucket.org/astcorporation/ccps-oracle-cloud-testing/src/master/src/" TargetMode="External"/><Relationship Id="rId2" Type="http://schemas.openxmlformats.org/officeDocument/2006/relationships/hyperlink" Target="https://bitbucket.org/astcorporation/ccps-oracle-cloud-testing/src/master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itbucket.org/astcorporation/ccps-oracle-cloud-testing/src/master/src/main/resources/" TargetMode="External"/><Relationship Id="rId4" Type="http://schemas.openxmlformats.org/officeDocument/2006/relationships/hyperlink" Target="https://bitbucket.org/astcorporation/ccps-oracle-cloud-testing/src/master/src/main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E3774-B4E1-54D3-2638-56E5B8C93A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Training Notes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0AC16A-B8BE-681F-3710-264CCB30E0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Daniel Ede</a:t>
            </a:r>
          </a:p>
        </p:txBody>
      </p:sp>
    </p:spTree>
    <p:extLst>
      <p:ext uri="{BB962C8B-B14F-4D97-AF65-F5344CB8AC3E}">
        <p14:creationId xmlns:p14="http://schemas.microsoft.com/office/powerpoint/2010/main" val="1022461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4A5E2-FD36-60E7-9775-5CE3E8B9B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Terminology (ERP)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DAC5B-3B10-0609-D791-48D99C390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Enterprise Resource Planning (ERP)</a:t>
            </a:r>
          </a:p>
          <a:p>
            <a:pPr lvl="1"/>
            <a:r>
              <a:rPr lang="en-GB" dirty="0"/>
              <a:t>Software that organizations use to manage day-to-day business activities such as:</a:t>
            </a:r>
          </a:p>
          <a:p>
            <a:pPr lvl="2"/>
            <a:r>
              <a:rPr lang="en-GB" dirty="0"/>
              <a:t>accounting, </a:t>
            </a:r>
          </a:p>
          <a:p>
            <a:pPr lvl="2"/>
            <a:r>
              <a:rPr lang="en-GB" dirty="0"/>
              <a:t>procurement, </a:t>
            </a:r>
          </a:p>
          <a:p>
            <a:pPr lvl="2"/>
            <a:r>
              <a:rPr lang="en-GB" dirty="0"/>
              <a:t>project management, </a:t>
            </a:r>
          </a:p>
          <a:p>
            <a:pPr lvl="2"/>
            <a:r>
              <a:rPr lang="en-GB" dirty="0"/>
              <a:t>risk management and compliance, and </a:t>
            </a:r>
          </a:p>
          <a:p>
            <a:pPr lvl="2"/>
            <a:r>
              <a:rPr lang="en-GB" dirty="0"/>
              <a:t>supply chain operations. </a:t>
            </a:r>
          </a:p>
          <a:p>
            <a:pPr lvl="1"/>
            <a:r>
              <a:rPr lang="en-GB" dirty="0"/>
              <a:t>A complete ERP suite also includes enterprise performance management, software that helps plan, budget, predict, and report on an organization’s financial results.</a:t>
            </a:r>
          </a:p>
          <a:p>
            <a:r>
              <a:rPr lang="en-GB" sz="1700" b="0" i="1" dirty="0">
                <a:solidFill>
                  <a:srgbClr val="161513"/>
                </a:solidFill>
                <a:effectLst/>
                <a:latin typeface="OracleSansVF"/>
              </a:rPr>
              <a:t>Note: “Financials” is often used when describing ERP software</a:t>
            </a:r>
            <a:r>
              <a:rPr lang="en-GB" sz="1700" i="1" dirty="0">
                <a:solidFill>
                  <a:srgbClr val="161513"/>
                </a:solidFill>
                <a:latin typeface="OracleSansVF"/>
              </a:rPr>
              <a:t>.</a:t>
            </a:r>
            <a:r>
              <a:rPr lang="en-GB" sz="1700" b="0" i="1" dirty="0">
                <a:solidFill>
                  <a:srgbClr val="161513"/>
                </a:solidFill>
                <a:effectLst/>
                <a:latin typeface="OracleSansVF"/>
              </a:rPr>
              <a:t> </a:t>
            </a:r>
          </a:p>
          <a:p>
            <a:pPr lvl="1"/>
            <a:r>
              <a:rPr lang="en-GB" sz="1300" b="0" i="1" dirty="0">
                <a:solidFill>
                  <a:srgbClr val="161513"/>
                </a:solidFill>
                <a:effectLst/>
                <a:latin typeface="OracleSansVF"/>
              </a:rPr>
              <a:t>Financials refers to a subset of modules within ERP.</a:t>
            </a:r>
            <a:endParaRPr lang="en-GB" sz="1300" i="1" dirty="0"/>
          </a:p>
        </p:txBody>
      </p:sp>
    </p:spTree>
    <p:extLst>
      <p:ext uri="{BB962C8B-B14F-4D97-AF65-F5344CB8AC3E}">
        <p14:creationId xmlns:p14="http://schemas.microsoft.com/office/powerpoint/2010/main" val="3947503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A2C85-79D9-B41C-1649-7E1221F24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Terminology (CRM)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8C738-CF3E-B164-4F1E-1E5E55567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Customer Relationship Management (CRM)</a:t>
            </a:r>
          </a:p>
          <a:p>
            <a:pPr lvl="1"/>
            <a:r>
              <a:rPr lang="en-GB" b="0" i="0" dirty="0">
                <a:solidFill>
                  <a:srgbClr val="111111"/>
                </a:solidFill>
                <a:effectLst/>
                <a:latin typeface="SourceSansPro"/>
              </a:rPr>
              <a:t>CRM is centred around managing interactions with customers and prospects.</a:t>
            </a:r>
          </a:p>
          <a:p>
            <a:pPr lvl="1"/>
            <a:endParaRPr lang="en-GB" dirty="0">
              <a:solidFill>
                <a:srgbClr val="111111"/>
              </a:solidFill>
              <a:latin typeface="SourceSansPro"/>
            </a:endParaRPr>
          </a:p>
          <a:p>
            <a:pPr lvl="1"/>
            <a:r>
              <a:rPr lang="en-GB" dirty="0">
                <a:solidFill>
                  <a:srgbClr val="111111"/>
                </a:solidFill>
                <a:latin typeface="SourceSansPro"/>
              </a:rPr>
              <a:t>Examples : </a:t>
            </a:r>
          </a:p>
          <a:p>
            <a:pPr lvl="2"/>
            <a:r>
              <a:rPr lang="en-GB" dirty="0">
                <a:solidFill>
                  <a:srgbClr val="111111"/>
                </a:solidFill>
                <a:latin typeface="SourceSansPro"/>
              </a:rPr>
              <a:t>Customer Support / Helpdesk, </a:t>
            </a:r>
          </a:p>
          <a:p>
            <a:pPr lvl="2"/>
            <a:r>
              <a:rPr lang="en-GB" dirty="0">
                <a:solidFill>
                  <a:srgbClr val="111111"/>
                </a:solidFill>
                <a:latin typeface="SourceSansPro"/>
              </a:rPr>
              <a:t>Sales </a:t>
            </a:r>
          </a:p>
          <a:p>
            <a:pPr lvl="2"/>
            <a:r>
              <a:rPr lang="en-GB" b="0" i="0" dirty="0">
                <a:solidFill>
                  <a:srgbClr val="111111"/>
                </a:solidFill>
                <a:effectLst/>
                <a:latin typeface="SourceSansPro"/>
              </a:rPr>
              <a:t>Marketing</a:t>
            </a:r>
          </a:p>
          <a:p>
            <a:pPr lvl="2"/>
            <a:r>
              <a:rPr lang="en-GB" b="0" i="0" dirty="0">
                <a:solidFill>
                  <a:srgbClr val="111111"/>
                </a:solidFill>
                <a:effectLst/>
                <a:latin typeface="SourceSansPro"/>
              </a:rPr>
              <a:t>Contact </a:t>
            </a:r>
            <a:r>
              <a:rPr lang="en-GB" dirty="0">
                <a:solidFill>
                  <a:srgbClr val="111111"/>
                </a:solidFill>
                <a:latin typeface="SourceSansPro"/>
              </a:rPr>
              <a:t>M</a:t>
            </a:r>
            <a:r>
              <a:rPr lang="en-GB" b="0" i="0" dirty="0">
                <a:solidFill>
                  <a:srgbClr val="111111"/>
                </a:solidFill>
                <a:effectLst/>
                <a:latin typeface="SourceSansPro"/>
              </a:rPr>
              <a:t>anagement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995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E8671-513D-C8DB-3157-86791B0FC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Terminology (HCM)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320FC-1E05-16C2-EA2D-E343ECCE9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Human Capital Management (HCM)</a:t>
            </a:r>
          </a:p>
          <a:p>
            <a:pPr lvl="1"/>
            <a:endParaRPr lang="en-GB" dirty="0"/>
          </a:p>
          <a:p>
            <a:r>
              <a:rPr lang="en-GB" dirty="0"/>
              <a:t>practices an organization uses for:</a:t>
            </a:r>
          </a:p>
          <a:p>
            <a:pPr lvl="1"/>
            <a:r>
              <a:rPr lang="en-GB" dirty="0"/>
              <a:t>Recruiting, </a:t>
            </a:r>
          </a:p>
          <a:p>
            <a:pPr lvl="1"/>
            <a:r>
              <a:rPr lang="en-GB" dirty="0"/>
              <a:t>Managing, </a:t>
            </a:r>
          </a:p>
          <a:p>
            <a:pPr lvl="1"/>
            <a:r>
              <a:rPr lang="en-GB" dirty="0"/>
              <a:t>Developing</a:t>
            </a:r>
          </a:p>
          <a:p>
            <a:pPr lvl="1"/>
            <a:r>
              <a:rPr lang="en-GB" dirty="0"/>
              <a:t>Optimizing employees</a:t>
            </a:r>
          </a:p>
          <a:p>
            <a:r>
              <a:rPr lang="en-GB" dirty="0"/>
              <a:t>Results in </a:t>
            </a:r>
          </a:p>
          <a:p>
            <a:pPr lvl="1"/>
            <a:r>
              <a:rPr lang="en-GB" dirty="0"/>
              <a:t>Hiring the right talent</a:t>
            </a:r>
          </a:p>
          <a:p>
            <a:pPr lvl="1"/>
            <a:r>
              <a:rPr lang="en-GB" dirty="0"/>
              <a:t>Having all the necessary skill sets in the company’s workforce</a:t>
            </a:r>
          </a:p>
          <a:p>
            <a:pPr lvl="1"/>
            <a:r>
              <a:rPr lang="en-GB" dirty="0"/>
              <a:t>Managing employees effectively</a:t>
            </a:r>
          </a:p>
          <a:p>
            <a:pPr lvl="1"/>
            <a:r>
              <a:rPr lang="en-GB" dirty="0"/>
              <a:t>Increasing productivity</a:t>
            </a:r>
          </a:p>
        </p:txBody>
      </p:sp>
    </p:spTree>
    <p:extLst>
      <p:ext uri="{BB962C8B-B14F-4D97-AF65-F5344CB8AC3E}">
        <p14:creationId xmlns:p14="http://schemas.microsoft.com/office/powerpoint/2010/main" val="2815423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ADD7E-6BA0-B90D-4196-B499AAD87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Terminology (P2P)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756D3-A450-B621-1747-F863A94CC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48911"/>
          </a:xfrm>
        </p:spPr>
        <p:txBody>
          <a:bodyPr/>
          <a:lstStyle/>
          <a:p>
            <a:r>
              <a:rPr lang="en-GB" b="0" i="0" dirty="0">
                <a:solidFill>
                  <a:srgbClr val="242424"/>
                </a:solidFill>
                <a:effectLst/>
                <a:latin typeface="Aptos Narrow" panose="020B0004020202020204" pitchFamily="34" charset="0"/>
              </a:rPr>
              <a:t>Procure to Pay (P2P) </a:t>
            </a:r>
          </a:p>
          <a:p>
            <a:pPr lvl="1"/>
            <a:r>
              <a:rPr lang="en-GB" b="0" i="0" dirty="0">
                <a:solidFill>
                  <a:srgbClr val="373A3E"/>
                </a:solidFill>
                <a:effectLst/>
                <a:latin typeface="Mulish"/>
              </a:rPr>
              <a:t>An integrated process that includes the steps from requisitioning goods and services to final payment. </a:t>
            </a:r>
            <a:endParaRPr lang="en-GB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3566E38-C53A-F6E0-D2BE-DB5DBE0EDAB7}"/>
              </a:ext>
            </a:extLst>
          </p:cNvPr>
          <p:cNvSpPr/>
          <p:nvPr/>
        </p:nvSpPr>
        <p:spPr>
          <a:xfrm>
            <a:off x="5783580" y="3231699"/>
            <a:ext cx="1691640" cy="5394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Purchase requestion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92BD0CE-3FD2-8493-6FDF-16F226D59717}"/>
              </a:ext>
            </a:extLst>
          </p:cNvPr>
          <p:cNvSpPr/>
          <p:nvPr/>
        </p:nvSpPr>
        <p:spPr>
          <a:xfrm>
            <a:off x="7393686" y="3626069"/>
            <a:ext cx="1691640" cy="5394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Purchase Order Creation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816C2A9-A3F4-CBBD-B042-EEEFA5DAD07A}"/>
              </a:ext>
            </a:extLst>
          </p:cNvPr>
          <p:cNvSpPr/>
          <p:nvPr/>
        </p:nvSpPr>
        <p:spPr>
          <a:xfrm>
            <a:off x="8321040" y="4333989"/>
            <a:ext cx="1691640" cy="5394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Purchase Order Approval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C7A28C6-B034-8A2F-4F3C-C792FE78DBD0}"/>
              </a:ext>
            </a:extLst>
          </p:cNvPr>
          <p:cNvSpPr/>
          <p:nvPr/>
        </p:nvSpPr>
        <p:spPr>
          <a:xfrm>
            <a:off x="4107328" y="5771202"/>
            <a:ext cx="1691640" cy="5394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Invoice Matching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AD77F23-7F61-E002-5167-3886F83CB4D1}"/>
              </a:ext>
            </a:extLst>
          </p:cNvPr>
          <p:cNvSpPr/>
          <p:nvPr/>
        </p:nvSpPr>
        <p:spPr>
          <a:xfrm>
            <a:off x="7475220" y="5717907"/>
            <a:ext cx="1691640" cy="5394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Good / Services Received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99AD95-BA53-4520-E06D-D1DD54700223}"/>
              </a:ext>
            </a:extLst>
          </p:cNvPr>
          <p:cNvSpPr/>
          <p:nvPr/>
        </p:nvSpPr>
        <p:spPr>
          <a:xfrm>
            <a:off x="8321040" y="5043475"/>
            <a:ext cx="1691640" cy="5394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Purchase Order Dispatch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121400-A3D8-E25A-645F-12D96E0B3C9E}"/>
              </a:ext>
            </a:extLst>
          </p:cNvPr>
          <p:cNvSpPr/>
          <p:nvPr/>
        </p:nvSpPr>
        <p:spPr>
          <a:xfrm>
            <a:off x="5881116" y="6076710"/>
            <a:ext cx="1691640" cy="5394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Invoice Receipt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394818B-4DBF-7A45-F4AB-6855DA07B319}"/>
              </a:ext>
            </a:extLst>
          </p:cNvPr>
          <p:cNvSpPr/>
          <p:nvPr/>
        </p:nvSpPr>
        <p:spPr>
          <a:xfrm>
            <a:off x="3261508" y="5043475"/>
            <a:ext cx="1691640" cy="5394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Invoice Approval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8E6BF5C-6C7A-DC7F-5F4B-EEFDFE0B52FA}"/>
              </a:ext>
            </a:extLst>
          </p:cNvPr>
          <p:cNvSpPr/>
          <p:nvPr/>
        </p:nvSpPr>
        <p:spPr>
          <a:xfrm>
            <a:off x="3261508" y="4333989"/>
            <a:ext cx="1691640" cy="5394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Payment Processing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8C6385-DCBF-146C-6E98-BFD094D472DA}"/>
              </a:ext>
            </a:extLst>
          </p:cNvPr>
          <p:cNvSpPr/>
          <p:nvPr/>
        </p:nvSpPr>
        <p:spPr>
          <a:xfrm>
            <a:off x="4279392" y="3623018"/>
            <a:ext cx="1691640" cy="5394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Record Keeping and reporting</a:t>
            </a:r>
          </a:p>
        </p:txBody>
      </p:sp>
    </p:spTree>
    <p:extLst>
      <p:ext uri="{BB962C8B-B14F-4D97-AF65-F5344CB8AC3E}">
        <p14:creationId xmlns:p14="http://schemas.microsoft.com/office/powerpoint/2010/main" val="3228381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5744A-E1D1-043C-D218-B5867641C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Framework / Repositories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85532-BCA9-7B07-F015-8BBADB105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Execution Core Engin (act-core)</a:t>
            </a:r>
          </a:p>
          <a:p>
            <a:r>
              <a:rPr lang="en-GB" dirty="0"/>
              <a:t>Component Library (act-</a:t>
            </a:r>
            <a:r>
              <a:rPr lang="en-GB" dirty="0" err="1"/>
              <a:t>osaas</a:t>
            </a:r>
            <a:r>
              <a:rPr lang="en-GB" dirty="0"/>
              <a:t>)</a:t>
            </a:r>
          </a:p>
          <a:p>
            <a:r>
              <a:rPr lang="en-GB" dirty="0"/>
              <a:t>Customer Repo (&lt;customer&gt;-oracle-cloud-testing)</a:t>
            </a:r>
          </a:p>
          <a:p>
            <a:r>
              <a:rPr lang="en-GB" dirty="0"/>
              <a:t>IaaS Library (act-</a:t>
            </a:r>
            <a:r>
              <a:rPr lang="en-GB" dirty="0" err="1"/>
              <a:t>sdk</a:t>
            </a:r>
            <a:r>
              <a:rPr lang="en-GB" dirty="0"/>
              <a:t>-</a:t>
            </a:r>
            <a:r>
              <a:rPr lang="en-GB" dirty="0" err="1"/>
              <a:t>iaas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69231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59F22EE-7F47-703B-F27D-00B2872D8850}"/>
              </a:ext>
            </a:extLst>
          </p:cNvPr>
          <p:cNvSpPr/>
          <p:nvPr/>
        </p:nvSpPr>
        <p:spPr>
          <a:xfrm>
            <a:off x="3918044" y="1402373"/>
            <a:ext cx="1890656" cy="115821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F1F2F1">
                    <a:lumMod val="90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Component Library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sng" strike="noStrike" kern="1200" cap="none" spc="0" normalizeH="0" baseline="0" noProof="0" dirty="0">
                <a:ln>
                  <a:noFill/>
                </a:ln>
                <a:solidFill>
                  <a:srgbClr val="F1F2F1">
                    <a:lumMod val="90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(act-</a:t>
            </a:r>
            <a:r>
              <a:rPr kumimoji="0" lang="en-IN" sz="1400" b="1" i="0" u="sng" strike="noStrike" kern="1200" cap="none" spc="0" normalizeH="0" baseline="0" noProof="0" dirty="0" err="1">
                <a:ln>
                  <a:noFill/>
                </a:ln>
                <a:solidFill>
                  <a:srgbClr val="F1F2F1">
                    <a:lumMod val="90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osaas</a:t>
            </a:r>
            <a:r>
              <a:rPr kumimoji="0" lang="en-IN" sz="1400" b="1" i="0" u="sng" strike="noStrike" kern="1200" cap="none" spc="0" normalizeH="0" baseline="0" noProof="0" dirty="0">
                <a:ln>
                  <a:noFill/>
                </a:ln>
                <a:solidFill>
                  <a:srgbClr val="F1F2F1">
                    <a:lumMod val="90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sng" strike="noStrike" kern="1200" cap="none" spc="0" normalizeH="0" baseline="0" noProof="0" dirty="0">
              <a:ln>
                <a:noFill/>
              </a:ln>
              <a:solidFill>
                <a:srgbClr val="F1F2F1">
                  <a:lumMod val="90000"/>
                </a:srgbClr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03D0C3F-2CDC-D66E-9A6F-D36B3EE2AF8A}"/>
              </a:ext>
            </a:extLst>
          </p:cNvPr>
          <p:cNvSpPr/>
          <p:nvPr/>
        </p:nvSpPr>
        <p:spPr>
          <a:xfrm>
            <a:off x="6835164" y="1386121"/>
            <a:ext cx="2304410" cy="115821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F1F2F1">
                    <a:lumMod val="90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Customer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F1F2F1">
                    <a:lumMod val="90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Repository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sng" strike="noStrike" kern="1200" cap="none" spc="0" normalizeH="0" baseline="0" noProof="0" dirty="0">
                <a:ln>
                  <a:noFill/>
                </a:ln>
                <a:solidFill>
                  <a:srgbClr val="F1F2F1">
                    <a:lumMod val="90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(customer-oracle-cloud-testing)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C6BA05C-BF74-F9E5-6F1E-2C557EC00D2F}"/>
              </a:ext>
            </a:extLst>
          </p:cNvPr>
          <p:cNvSpPr/>
          <p:nvPr/>
        </p:nvSpPr>
        <p:spPr>
          <a:xfrm>
            <a:off x="878997" y="1372245"/>
            <a:ext cx="1901291" cy="1172651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F1F2F1">
                    <a:lumMod val="90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Execution Core Engine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sng" strike="noStrike" kern="1200" cap="none" spc="0" normalizeH="0" baseline="0" noProof="0" dirty="0">
                <a:ln>
                  <a:noFill/>
                </a:ln>
                <a:solidFill>
                  <a:srgbClr val="F1F2F1">
                    <a:lumMod val="90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(act-core)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56F2C91-89EE-AEEF-1E7F-E5BFF1B9AE98}"/>
              </a:ext>
            </a:extLst>
          </p:cNvPr>
          <p:cNvSpPr/>
          <p:nvPr/>
        </p:nvSpPr>
        <p:spPr>
          <a:xfrm>
            <a:off x="6835164" y="3404400"/>
            <a:ext cx="1745377" cy="247239"/>
          </a:xfrm>
          <a:prstGeom prst="roundRect">
            <a:avLst>
              <a:gd name="adj" fmla="val 723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Instance Details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9594C48-1A79-8F31-1CB6-F4EDAE7FDA7B}"/>
              </a:ext>
            </a:extLst>
          </p:cNvPr>
          <p:cNvSpPr/>
          <p:nvPr/>
        </p:nvSpPr>
        <p:spPr>
          <a:xfrm>
            <a:off x="6837067" y="3017916"/>
            <a:ext cx="1407219" cy="247239"/>
          </a:xfrm>
          <a:prstGeom prst="roundRect">
            <a:avLst>
              <a:gd name="adj" fmla="val 723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Test Users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AFE7EAC-1309-A3DA-AC34-852C832F23FA}"/>
              </a:ext>
            </a:extLst>
          </p:cNvPr>
          <p:cNvSpPr/>
          <p:nvPr/>
        </p:nvSpPr>
        <p:spPr>
          <a:xfrm>
            <a:off x="6836115" y="3792231"/>
            <a:ext cx="1409122" cy="290646"/>
          </a:xfrm>
          <a:prstGeom prst="roundRect">
            <a:avLst>
              <a:gd name="adj" fmla="val 723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Master Driver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3D87F0B-F1DC-1ACA-439A-21C527AF0E51}"/>
              </a:ext>
            </a:extLst>
          </p:cNvPr>
          <p:cNvSpPr/>
          <p:nvPr/>
        </p:nvSpPr>
        <p:spPr>
          <a:xfrm>
            <a:off x="6835163" y="4227584"/>
            <a:ext cx="1601631" cy="247239"/>
          </a:xfrm>
          <a:prstGeom prst="roundRect">
            <a:avLst>
              <a:gd name="adj" fmla="val 723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Master Test Data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956A40B-D6F5-73DE-D0D7-4A6BC8A804DD}"/>
              </a:ext>
            </a:extLst>
          </p:cNvPr>
          <p:cNvSpPr/>
          <p:nvPr/>
        </p:nvSpPr>
        <p:spPr>
          <a:xfrm>
            <a:off x="6835164" y="4612714"/>
            <a:ext cx="1236650" cy="272407"/>
          </a:xfrm>
          <a:prstGeom prst="roundRect">
            <a:avLst>
              <a:gd name="adj" fmla="val 723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Test Data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D862CA-DC57-C4E3-0385-F489D60FB008}"/>
              </a:ext>
            </a:extLst>
          </p:cNvPr>
          <p:cNvSpPr/>
          <p:nvPr/>
        </p:nvSpPr>
        <p:spPr>
          <a:xfrm>
            <a:off x="505753" y="2949994"/>
            <a:ext cx="2414142" cy="25192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FFEB50F-0C00-9752-CE01-D1F48C6B9000}"/>
              </a:ext>
            </a:extLst>
          </p:cNvPr>
          <p:cNvSpPr/>
          <p:nvPr/>
        </p:nvSpPr>
        <p:spPr>
          <a:xfrm>
            <a:off x="6826573" y="5023011"/>
            <a:ext cx="1920251" cy="272407"/>
          </a:xfrm>
          <a:prstGeom prst="roundRect">
            <a:avLst>
              <a:gd name="adj" fmla="val 723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Project Configuration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89277AF-147D-A507-FECF-832B43DE7344}"/>
              </a:ext>
            </a:extLst>
          </p:cNvPr>
          <p:cNvSpPr/>
          <p:nvPr/>
        </p:nvSpPr>
        <p:spPr>
          <a:xfrm>
            <a:off x="3413899" y="4829665"/>
            <a:ext cx="1769503" cy="473076"/>
          </a:xfrm>
          <a:prstGeom prst="roundRect">
            <a:avLst>
              <a:gd name="adj" fmla="val 723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Page object model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7AA74AE-6698-E7B2-CCCD-196178FCE494}"/>
              </a:ext>
            </a:extLst>
          </p:cNvPr>
          <p:cNvSpPr/>
          <p:nvPr/>
        </p:nvSpPr>
        <p:spPr>
          <a:xfrm>
            <a:off x="3433677" y="4114475"/>
            <a:ext cx="2943206" cy="509631"/>
          </a:xfrm>
          <a:prstGeom prst="roundRect">
            <a:avLst>
              <a:gd name="adj" fmla="val 723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Pattern based </a:t>
            </a:r>
            <a:r>
              <a:rPr kumimoji="0" lang="en-GB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xPath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Identification for web object locators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E5B7FFC-66DB-C020-BD5A-EE0C620BDD58}"/>
              </a:ext>
            </a:extLst>
          </p:cNvPr>
          <p:cNvSpPr/>
          <p:nvPr/>
        </p:nvSpPr>
        <p:spPr>
          <a:xfrm>
            <a:off x="3413899" y="3252989"/>
            <a:ext cx="2943206" cy="641747"/>
          </a:xfrm>
          <a:prstGeom prst="roundRect">
            <a:avLst>
              <a:gd name="adj" fmla="val 723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Reusable business component in form of java classes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06940CC-8D83-D705-6E39-F11C73BC1645}"/>
              </a:ext>
            </a:extLst>
          </p:cNvPr>
          <p:cNvSpPr/>
          <p:nvPr/>
        </p:nvSpPr>
        <p:spPr>
          <a:xfrm>
            <a:off x="647872" y="3160483"/>
            <a:ext cx="2113668" cy="429098"/>
          </a:xfrm>
          <a:prstGeom prst="roundRect">
            <a:avLst>
              <a:gd name="adj" fmla="val 723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Common framework methods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CD290A7-44CA-622A-194E-924C725998A0}"/>
              </a:ext>
            </a:extLst>
          </p:cNvPr>
          <p:cNvSpPr/>
          <p:nvPr/>
        </p:nvSpPr>
        <p:spPr>
          <a:xfrm>
            <a:off x="622790" y="4308888"/>
            <a:ext cx="1981366" cy="393546"/>
          </a:xfrm>
          <a:prstGeom prst="roundRect">
            <a:avLst>
              <a:gd name="adj" fmla="val 723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Reporting libraries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233E491-850E-1215-EF34-42B896FAAF56}"/>
              </a:ext>
            </a:extLst>
          </p:cNvPr>
          <p:cNvSpPr/>
          <p:nvPr/>
        </p:nvSpPr>
        <p:spPr>
          <a:xfrm>
            <a:off x="622790" y="4865205"/>
            <a:ext cx="2113669" cy="465382"/>
          </a:xfrm>
          <a:prstGeom prst="roundRect">
            <a:avLst>
              <a:gd name="adj" fmla="val 723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Execution engine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5814E7D-E097-42A5-52CD-B6EEE01E3C3F}"/>
              </a:ext>
            </a:extLst>
          </p:cNvPr>
          <p:cNvSpPr/>
          <p:nvPr/>
        </p:nvSpPr>
        <p:spPr>
          <a:xfrm>
            <a:off x="622790" y="3718784"/>
            <a:ext cx="2043660" cy="399307"/>
          </a:xfrm>
          <a:prstGeom prst="roundRect">
            <a:avLst>
              <a:gd name="adj" fmla="val 723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Test data and ALM integration library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28AB2A-E682-9E26-9569-1FE4F3847706}"/>
              </a:ext>
            </a:extLst>
          </p:cNvPr>
          <p:cNvSpPr/>
          <p:nvPr/>
        </p:nvSpPr>
        <p:spPr>
          <a:xfrm>
            <a:off x="3274867" y="2949994"/>
            <a:ext cx="3163753" cy="25192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5076CB-8383-33B4-CD85-6C1C6E7F1803}"/>
              </a:ext>
            </a:extLst>
          </p:cNvPr>
          <p:cNvSpPr/>
          <p:nvPr/>
        </p:nvSpPr>
        <p:spPr>
          <a:xfrm>
            <a:off x="6724283" y="2949994"/>
            <a:ext cx="2447186" cy="25192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F8ABC34-C490-D165-88E5-63D6F27960E6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1829643" y="2544896"/>
            <a:ext cx="0" cy="40509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A47BF540-0D54-53E3-4631-475C173B3420}"/>
              </a:ext>
            </a:extLst>
          </p:cNvPr>
          <p:cNvSpPr/>
          <p:nvPr/>
        </p:nvSpPr>
        <p:spPr>
          <a:xfrm>
            <a:off x="368453" y="632650"/>
            <a:ext cx="11455093" cy="55927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E6FF287-9249-3980-FE7C-7CB99B2E58C7}"/>
              </a:ext>
            </a:extLst>
          </p:cNvPr>
          <p:cNvCxnSpPr>
            <a:cxnSpLocks/>
          </p:cNvCxnSpPr>
          <p:nvPr/>
        </p:nvCxnSpPr>
        <p:spPr>
          <a:xfrm>
            <a:off x="8071814" y="2608737"/>
            <a:ext cx="0" cy="341257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8485330-8D2A-EC6D-DA31-BB98146D7F84}"/>
              </a:ext>
            </a:extLst>
          </p:cNvPr>
          <p:cNvCxnSpPr>
            <a:cxnSpLocks/>
          </p:cNvCxnSpPr>
          <p:nvPr/>
        </p:nvCxnSpPr>
        <p:spPr>
          <a:xfrm>
            <a:off x="4905280" y="2608737"/>
            <a:ext cx="0" cy="37666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1B1F335-D5C9-7E5A-0018-80959D15EA49}"/>
              </a:ext>
            </a:extLst>
          </p:cNvPr>
          <p:cNvSpPr/>
          <p:nvPr/>
        </p:nvSpPr>
        <p:spPr>
          <a:xfrm>
            <a:off x="9555839" y="1402373"/>
            <a:ext cx="1894464" cy="1141958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F1F2F1">
                    <a:lumMod val="90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IaaS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F1F2F1">
                    <a:lumMod val="90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Library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sng" strike="noStrike" kern="1200" cap="none" spc="0" normalizeH="0" baseline="0" noProof="0" dirty="0">
                <a:ln>
                  <a:noFill/>
                </a:ln>
                <a:solidFill>
                  <a:srgbClr val="F1F2F1">
                    <a:lumMod val="90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(act-</a:t>
            </a:r>
            <a:r>
              <a:rPr kumimoji="0" lang="en-IN" sz="1400" b="1" i="0" u="sng" strike="noStrike" kern="1200" cap="none" spc="0" normalizeH="0" baseline="0" noProof="0" dirty="0" err="1">
                <a:ln>
                  <a:noFill/>
                </a:ln>
                <a:solidFill>
                  <a:srgbClr val="F1F2F1">
                    <a:lumMod val="90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sdk</a:t>
            </a:r>
            <a:r>
              <a:rPr kumimoji="0" lang="en-IN" sz="1400" b="1" i="0" u="sng" strike="noStrike" kern="1200" cap="none" spc="0" normalizeH="0" baseline="0" noProof="0" dirty="0">
                <a:ln>
                  <a:noFill/>
                </a:ln>
                <a:solidFill>
                  <a:srgbClr val="F1F2F1">
                    <a:lumMod val="90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-</a:t>
            </a:r>
            <a:r>
              <a:rPr kumimoji="0" lang="en-IN" sz="1400" b="1" i="0" u="sng" strike="noStrike" kern="1200" cap="none" spc="0" normalizeH="0" baseline="0" noProof="0" dirty="0" err="1">
                <a:ln>
                  <a:noFill/>
                </a:ln>
                <a:solidFill>
                  <a:srgbClr val="F1F2F1">
                    <a:lumMod val="90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iaas</a:t>
            </a:r>
            <a:r>
              <a:rPr kumimoji="0" lang="en-IN" sz="1400" b="1" i="0" u="sng" strike="noStrike" kern="1200" cap="none" spc="0" normalizeH="0" baseline="0" noProof="0" dirty="0">
                <a:ln>
                  <a:noFill/>
                </a:ln>
                <a:solidFill>
                  <a:srgbClr val="F1F2F1">
                    <a:lumMod val="90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sng" strike="noStrike" kern="1200" cap="none" spc="0" normalizeH="0" baseline="0" noProof="0" dirty="0">
              <a:ln>
                <a:noFill/>
              </a:ln>
              <a:solidFill>
                <a:srgbClr val="F1F2F1">
                  <a:lumMod val="90000"/>
                </a:srgbClr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8721D88-062E-5E4D-59B9-4FC6B1694C77}"/>
              </a:ext>
            </a:extLst>
          </p:cNvPr>
          <p:cNvSpPr/>
          <p:nvPr/>
        </p:nvSpPr>
        <p:spPr>
          <a:xfrm>
            <a:off x="9498623" y="2931095"/>
            <a:ext cx="2045154" cy="25381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A826040-E13D-4D1E-B754-91C4A2F458E6}"/>
              </a:ext>
            </a:extLst>
          </p:cNvPr>
          <p:cNvSpPr/>
          <p:nvPr/>
        </p:nvSpPr>
        <p:spPr>
          <a:xfrm>
            <a:off x="9671133" y="3071500"/>
            <a:ext cx="1647408" cy="496424"/>
          </a:xfrm>
          <a:prstGeom prst="roundRect">
            <a:avLst>
              <a:gd name="adj" fmla="val 723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dirty="0">
                <a:solidFill>
                  <a:srgbClr val="002060"/>
                </a:solidFill>
                <a:latin typeface="Century Gothic"/>
              </a:rPr>
              <a:t>Storage and VM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7A89F48-1BBC-960A-885A-A0CC5DE00C5A}"/>
              </a:ext>
            </a:extLst>
          </p:cNvPr>
          <p:cNvSpPr/>
          <p:nvPr/>
        </p:nvSpPr>
        <p:spPr>
          <a:xfrm>
            <a:off x="9671133" y="3766656"/>
            <a:ext cx="1647408" cy="454390"/>
          </a:xfrm>
          <a:prstGeom prst="roundRect">
            <a:avLst>
              <a:gd name="adj" fmla="val 723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AWS</a:t>
            </a:r>
          </a:p>
        </p:txBody>
      </p:sp>
    </p:spTree>
    <p:extLst>
      <p:ext uri="{BB962C8B-B14F-4D97-AF65-F5344CB8AC3E}">
        <p14:creationId xmlns:p14="http://schemas.microsoft.com/office/powerpoint/2010/main" val="516745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FCBC3-3184-E5DE-6FFB-61910C895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Customer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39FAB-7388-492F-EA02-4E6457862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Contains </a:t>
            </a:r>
          </a:p>
          <a:p>
            <a:pPr lvl="1"/>
            <a:r>
              <a:rPr lang="en-GB" dirty="0"/>
              <a:t>Master Driver File </a:t>
            </a:r>
          </a:p>
          <a:p>
            <a:pPr lvl="1"/>
            <a:r>
              <a:rPr lang="en-GB" dirty="0"/>
              <a:t>Master Test Data </a:t>
            </a:r>
          </a:p>
          <a:p>
            <a:pPr lvl="2"/>
            <a:r>
              <a:rPr lang="en-GB" dirty="0"/>
              <a:t>These can be found in &lt;customer&gt;</a:t>
            </a:r>
            <a:r>
              <a:rPr lang="en-GB" b="0" i="0" u="sng" dirty="0">
                <a:solidFill>
                  <a:srgbClr val="172B4D"/>
                </a:solidFill>
                <a:effectLst/>
                <a:latin typeface="ui-sans-serif"/>
                <a:hlinkClick r:id="rId2"/>
              </a:rPr>
              <a:t>-oracle-cloud-testing</a:t>
            </a:r>
            <a:r>
              <a:rPr lang="en-GB" b="0" i="0" dirty="0">
                <a:solidFill>
                  <a:srgbClr val="172B4D"/>
                </a:solidFill>
                <a:effectLst/>
                <a:latin typeface="ui-sans-serif"/>
              </a:rPr>
              <a:t>/</a:t>
            </a:r>
            <a:r>
              <a:rPr lang="en-GB" b="0" i="0" u="none" strike="noStrike" dirty="0" err="1">
                <a:solidFill>
                  <a:srgbClr val="172B4D"/>
                </a:solidFill>
                <a:effectLst/>
                <a:latin typeface="ui-sans-serif"/>
                <a:hlinkClick r:id="rId3"/>
              </a:rPr>
              <a:t>src</a:t>
            </a:r>
            <a:r>
              <a:rPr lang="en-GB" b="0" i="0" dirty="0">
                <a:solidFill>
                  <a:srgbClr val="172B4D"/>
                </a:solidFill>
                <a:effectLst/>
                <a:latin typeface="ui-sans-serif"/>
              </a:rPr>
              <a:t>/</a:t>
            </a:r>
            <a:r>
              <a:rPr lang="en-GB" b="0" i="0" u="none" strike="noStrike" dirty="0">
                <a:solidFill>
                  <a:srgbClr val="172B4D"/>
                </a:solidFill>
                <a:effectLst/>
                <a:latin typeface="ui-sans-serif"/>
                <a:hlinkClick r:id="rId4"/>
              </a:rPr>
              <a:t>main</a:t>
            </a:r>
            <a:r>
              <a:rPr lang="en-GB" b="0" i="0" dirty="0">
                <a:solidFill>
                  <a:srgbClr val="172B4D"/>
                </a:solidFill>
                <a:effectLst/>
                <a:latin typeface="ui-sans-serif"/>
              </a:rPr>
              <a:t>/</a:t>
            </a:r>
            <a:r>
              <a:rPr lang="en-GB" b="0" i="0" u="none" strike="noStrike" dirty="0">
                <a:solidFill>
                  <a:srgbClr val="172B4D"/>
                </a:solidFill>
                <a:effectLst/>
                <a:latin typeface="ui-sans-serif"/>
                <a:hlinkClick r:id="rId5"/>
              </a:rPr>
              <a:t>resources</a:t>
            </a:r>
            <a:r>
              <a:rPr lang="en-GB" b="0" i="0" dirty="0">
                <a:solidFill>
                  <a:srgbClr val="172B4D"/>
                </a:solidFill>
                <a:effectLst/>
                <a:latin typeface="ui-sans-serif"/>
              </a:rPr>
              <a:t>/</a:t>
            </a:r>
            <a:r>
              <a:rPr lang="en-GB" b="1" i="0" dirty="0">
                <a:solidFill>
                  <a:srgbClr val="172B4D"/>
                </a:solidFill>
                <a:effectLst/>
                <a:latin typeface="ui-sans-serif"/>
              </a:rPr>
              <a:t>Data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5248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Box 3">
            <a:extLst>
              <a:ext uri="{FF2B5EF4-FFF2-40B4-BE49-F238E27FC236}">
                <a16:creationId xmlns:a16="http://schemas.microsoft.com/office/drawing/2014/main" id="{EF74F3B2-4BD3-5579-4108-269515E1540A}"/>
              </a:ext>
            </a:extLst>
          </p:cNvPr>
          <p:cNvSpPr/>
          <p:nvPr/>
        </p:nvSpPr>
        <p:spPr>
          <a:xfrm>
            <a:off x="2534833" y="5205325"/>
            <a:ext cx="8972905" cy="731520"/>
          </a:xfrm>
          <a:prstGeom prst="roundRect">
            <a:avLst/>
          </a:prstGeom>
          <a:solidFill>
            <a:srgbClr val="EDF3F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Word Docs –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Step by step test execution details with inline screenshots</a:t>
            </a:r>
          </a:p>
        </p:txBody>
      </p:sp>
      <p:sp>
        <p:nvSpPr>
          <p:cNvPr id="5" name="Table Box 2">
            <a:extLst>
              <a:ext uri="{FF2B5EF4-FFF2-40B4-BE49-F238E27FC236}">
                <a16:creationId xmlns:a16="http://schemas.microsoft.com/office/drawing/2014/main" id="{BDEC5FF2-AC7B-8FFF-61BC-B15C0A5A2B67}"/>
              </a:ext>
            </a:extLst>
          </p:cNvPr>
          <p:cNvSpPr/>
          <p:nvPr/>
        </p:nvSpPr>
        <p:spPr>
          <a:xfrm>
            <a:off x="2534833" y="3915073"/>
            <a:ext cx="8943183" cy="731520"/>
          </a:xfrm>
          <a:prstGeom prst="roundRect">
            <a:avLst/>
          </a:prstGeom>
          <a:solidFill>
            <a:srgbClr val="EDF3F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Excel -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Test automation results summary file</a:t>
            </a:r>
          </a:p>
        </p:txBody>
      </p:sp>
      <p:sp>
        <p:nvSpPr>
          <p:cNvPr id="6" name="Table Box 1">
            <a:extLst>
              <a:ext uri="{FF2B5EF4-FFF2-40B4-BE49-F238E27FC236}">
                <a16:creationId xmlns:a16="http://schemas.microsoft.com/office/drawing/2014/main" id="{C49DBECA-28FA-E903-BC97-4277A115DD00}"/>
              </a:ext>
            </a:extLst>
          </p:cNvPr>
          <p:cNvSpPr/>
          <p:nvPr/>
        </p:nvSpPr>
        <p:spPr>
          <a:xfrm>
            <a:off x="2534833" y="2778760"/>
            <a:ext cx="8943182" cy="731520"/>
          </a:xfrm>
          <a:prstGeom prst="roundRect">
            <a:avLst/>
          </a:prstGeom>
          <a:solidFill>
            <a:srgbClr val="EDF3F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MP4 Videos –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View test automation execution in action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6739020-582A-847A-9143-1A35431EB996}"/>
              </a:ext>
            </a:extLst>
          </p:cNvPr>
          <p:cNvSpPr>
            <a:spLocks noGrp="1"/>
          </p:cNvSpPr>
          <p:nvPr/>
        </p:nvSpPr>
        <p:spPr>
          <a:xfrm>
            <a:off x="173832" y="396209"/>
            <a:ext cx="11844336" cy="44904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6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1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TaaS Execution Result Outputs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DE9D30AA-536A-474E-B895-2C7327112424}"/>
              </a:ext>
            </a:extLst>
          </p:cNvPr>
          <p:cNvSpPr>
            <a:spLocks noGrp="1"/>
          </p:cNvSpPr>
          <p:nvPr/>
        </p:nvSpPr>
        <p:spPr>
          <a:xfrm>
            <a:off x="425599" y="1726508"/>
            <a:ext cx="6299177" cy="457200"/>
          </a:xfrm>
          <a:prstGeom prst="chevron">
            <a:avLst/>
          </a:prstGeom>
          <a:solidFill>
            <a:srgbClr val="E7F8FD"/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182880" tIns="91440" rIns="91440" bIns="91440" rtlCol="0" anchor="ctr">
            <a:noAutofit/>
          </a:bodyPr>
          <a:lstStyle>
            <a:lvl1pPr marL="0" indent="0" algn="l" defTabSz="914461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100000"/>
              <a:buFont typeface="Century Gothic" panose="020B0502020202020204" pitchFamily="34" charset="0"/>
              <a:buNone/>
              <a:tabLst/>
              <a:defRPr lang="en-US" sz="180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1791" indent="0" algn="l" defTabSz="914461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3"/>
              </a:buClr>
              <a:buSzPct val="80000"/>
              <a:buFont typeface=".Hiragino Kaku Gothic Interface W3"/>
              <a:buNone/>
              <a:def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5644" indent="0" algn="l" defTabSz="914461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SzPct val="80000"/>
              <a:buFont typeface=".PingFang SC Regular"/>
              <a:buNone/>
              <a:defRPr lang="en-US" sz="14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89021" indent="0" algn="l" defTabSz="914461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System Font Regular"/>
              <a:buNone/>
              <a:defRPr lang="en-US" sz="12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16050" indent="0" algn="l" defTabSz="914461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Arial" panose="020B0604020202020204" pitchFamily="34" charset="0"/>
              <a:buNone/>
              <a:defRPr lang="en-IN" sz="1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768" indent="-228616" algn="l" defTabSz="91446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99" indent="-228616" algn="l" defTabSz="91446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229" indent="-228616" algn="l" defTabSz="91446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59" indent="-228616" algn="l" defTabSz="91446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1800" b="1"/>
              <a:t>Complete Audit Traceability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4B5184-B9A9-4586-8CDE-31CEDD20A912}"/>
              </a:ext>
            </a:extLst>
          </p:cNvPr>
          <p:cNvSpPr txBox="1"/>
          <p:nvPr/>
        </p:nvSpPr>
        <p:spPr>
          <a:xfrm>
            <a:off x="425599" y="1082665"/>
            <a:ext cx="9150587" cy="457200"/>
          </a:xfrm>
          <a:prstGeom prst="chevron">
            <a:avLst/>
          </a:prstGeom>
          <a:solidFill>
            <a:srgbClr val="E7F8FD"/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182880" tIns="91440" rIns="91440" bIns="9144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Detailed Test Run Results Autogenerated and Shared in three different formats</a:t>
            </a:r>
          </a:p>
        </p:txBody>
      </p:sp>
    </p:spTree>
    <p:extLst>
      <p:ext uri="{BB962C8B-B14F-4D97-AF65-F5344CB8AC3E}">
        <p14:creationId xmlns:p14="http://schemas.microsoft.com/office/powerpoint/2010/main" val="3868108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2C704-4035-C4BB-6182-89EC794AA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Automation Test Script process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70D82378-D17F-A150-5F0D-AF0C0A11D2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9360578"/>
              </p:ext>
            </p:extLst>
          </p:nvPr>
        </p:nvGraphicFramePr>
        <p:xfrm>
          <a:off x="2032000" y="1993392"/>
          <a:ext cx="8128000" cy="41449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3203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EE7A6-E5B2-D94A-7E90-95B7F77C4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dirty="0"/>
              <a:t>Spreadsheet Master - Overview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0993B-19C4-FFF7-6630-82E099F25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/>
              <a:t>Spreadsheet Master</a:t>
            </a:r>
          </a:p>
          <a:p>
            <a:r>
              <a:rPr lang="en-US" sz="2800" dirty="0"/>
              <a:t>This excel spread sheet has 5 tabs</a:t>
            </a:r>
          </a:p>
          <a:p>
            <a:pPr lvl="1"/>
            <a:r>
              <a:rPr lang="en-US" dirty="0" err="1"/>
              <a:t>TAScripts</a:t>
            </a:r>
            <a:endParaRPr lang="en-US" dirty="0"/>
          </a:p>
          <a:p>
            <a:pPr lvl="1"/>
            <a:r>
              <a:rPr lang="en-US" dirty="0" err="1"/>
              <a:t>TAComponents</a:t>
            </a:r>
            <a:endParaRPr lang="en-US" dirty="0"/>
          </a:p>
          <a:p>
            <a:pPr lvl="1"/>
            <a:r>
              <a:rPr lang="en-US" dirty="0" err="1"/>
              <a:t>TAEnvURLs</a:t>
            </a:r>
            <a:endParaRPr lang="en-US" dirty="0"/>
          </a:p>
          <a:p>
            <a:pPr lvl="1"/>
            <a:r>
              <a:rPr lang="en-US" dirty="0"/>
              <a:t>Approvers</a:t>
            </a:r>
          </a:p>
          <a:p>
            <a:pPr lvl="1"/>
            <a:r>
              <a:rPr lang="en-US" dirty="0" err="1"/>
              <a:t>TAUsers</a:t>
            </a:r>
            <a:endParaRPr lang="en-US" dirty="0"/>
          </a:p>
          <a:p>
            <a:r>
              <a:rPr lang="en-GB" dirty="0"/>
              <a:t>Each of these tabs is used for a specific Task these are detailed in the following slides </a:t>
            </a:r>
          </a:p>
        </p:txBody>
      </p:sp>
      <p:pic>
        <p:nvPicPr>
          <p:cNvPr id="4" name="Content Placeholder 5" descr="A close up of a screen&#10;&#10;AI-generated content may be incorrect.">
            <a:extLst>
              <a:ext uri="{FF2B5EF4-FFF2-40B4-BE49-F238E27FC236}">
                <a16:creationId xmlns:a16="http://schemas.microsoft.com/office/drawing/2014/main" id="{7726745D-7997-FADA-74B4-280D3F8040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2220" y="2591660"/>
            <a:ext cx="3648941" cy="565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81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4253D-2E75-934E-41FE-EED38EB57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TAScripts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6C39E-292E-E200-2E63-F23A0EBDE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This is a high level of the scripts that can or will be run User defined fields are:</a:t>
            </a:r>
          </a:p>
          <a:p>
            <a:pPr lvl="1"/>
            <a:r>
              <a:rPr lang="en-GB" dirty="0" err="1"/>
              <a:t>TestID</a:t>
            </a:r>
            <a:r>
              <a:rPr lang="en-GB" dirty="0"/>
              <a:t> – This ID refers to the area</a:t>
            </a:r>
          </a:p>
          <a:p>
            <a:pPr lvl="1"/>
            <a:r>
              <a:rPr lang="en-GB" dirty="0"/>
              <a:t>Client </a:t>
            </a:r>
            <a:r>
              <a:rPr lang="en-GB" dirty="0" err="1"/>
              <a:t>TestID</a:t>
            </a:r>
            <a:r>
              <a:rPr lang="en-GB" dirty="0"/>
              <a:t> – This is the client test ID this is used for reporting purposes and linking internal Test ID’s to client Test ID’s</a:t>
            </a:r>
          </a:p>
          <a:p>
            <a:pPr lvl="1"/>
            <a:r>
              <a:rPr lang="en-GB" dirty="0" err="1"/>
              <a:t>ALMTestID</a:t>
            </a:r>
            <a:r>
              <a:rPr lang="en-GB" dirty="0"/>
              <a:t> – internal </a:t>
            </a:r>
            <a:r>
              <a:rPr lang="en-GB" dirty="0" err="1"/>
              <a:t>TestID</a:t>
            </a:r>
            <a:endParaRPr lang="en-GB" dirty="0"/>
          </a:p>
          <a:p>
            <a:pPr lvl="1"/>
            <a:r>
              <a:rPr lang="en-GB" dirty="0"/>
              <a:t>Module – Module that  is being tested</a:t>
            </a:r>
          </a:p>
          <a:p>
            <a:pPr lvl="1"/>
            <a:r>
              <a:rPr lang="en-GB" dirty="0"/>
              <a:t>Area – Area within the Module</a:t>
            </a:r>
          </a:p>
          <a:p>
            <a:pPr lvl="1"/>
            <a:r>
              <a:rPr lang="en-GB" dirty="0"/>
              <a:t>Test Title – Test Name</a:t>
            </a:r>
          </a:p>
          <a:p>
            <a:pPr lvl="1"/>
            <a:r>
              <a:rPr lang="en-GB" dirty="0"/>
              <a:t>Batch File Name – name of File Batch</a:t>
            </a:r>
          </a:p>
          <a:p>
            <a:pPr lvl="1"/>
            <a:r>
              <a:rPr lang="en-GB" dirty="0"/>
              <a:t>TA Script Category – </a:t>
            </a:r>
          </a:p>
          <a:p>
            <a:pPr lvl="1"/>
            <a:r>
              <a:rPr lang="en-GB" dirty="0"/>
              <a:t>Run – (Y/N) Field to let the system known if the test should be run set to (Y to run and N to not run) </a:t>
            </a:r>
          </a:p>
        </p:txBody>
      </p:sp>
    </p:spTree>
    <p:extLst>
      <p:ext uri="{BB962C8B-B14F-4D97-AF65-F5344CB8AC3E}">
        <p14:creationId xmlns:p14="http://schemas.microsoft.com/office/powerpoint/2010/main" val="2601102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EC66C-0D5B-21FD-C614-31D9B11E2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TAComponents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BF98E-6E46-08DA-DFD9-05899F67B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is where the actual script details are kept:</a:t>
            </a:r>
          </a:p>
          <a:p>
            <a:pPr lvl="1"/>
            <a:r>
              <a:rPr lang="en-GB" dirty="0" err="1"/>
              <a:t>TestID</a:t>
            </a:r>
            <a:r>
              <a:rPr lang="en-GB" dirty="0"/>
              <a:t> – this should relate to field on the </a:t>
            </a:r>
            <a:r>
              <a:rPr lang="en-GB" dirty="0" err="1"/>
              <a:t>TAScripts</a:t>
            </a:r>
            <a:endParaRPr lang="en-GB" dirty="0"/>
          </a:p>
          <a:p>
            <a:pPr lvl="1"/>
            <a:r>
              <a:rPr lang="en-GB" dirty="0"/>
              <a:t>Batch File Name - this should relate to field on the </a:t>
            </a:r>
            <a:r>
              <a:rPr lang="en-GB" dirty="0" err="1"/>
              <a:t>TAScripts</a:t>
            </a:r>
            <a:endParaRPr lang="en-GB" dirty="0"/>
          </a:p>
          <a:p>
            <a:pPr lvl="1"/>
            <a:r>
              <a:rPr lang="en-GB" dirty="0"/>
              <a:t>Action{N} – This calls a component from the library to run</a:t>
            </a:r>
          </a:p>
          <a:p>
            <a:pPr lvl="1"/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0221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6AC51-7A7A-6970-3169-67A9CFD98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TAEnvURLs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40E03-8DE2-6B31-DF9E-B4D1C5B4A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is contains the environments that the user can run is as well as their </a:t>
            </a:r>
            <a:r>
              <a:rPr lang="en-GB" dirty="0" err="1"/>
              <a:t>urls</a:t>
            </a:r>
            <a:r>
              <a:rPr lang="en-GB" dirty="0"/>
              <a:t> and other related information:</a:t>
            </a:r>
          </a:p>
          <a:p>
            <a:pPr lvl="1"/>
            <a:r>
              <a:rPr lang="en-GB" dirty="0"/>
              <a:t>ENV Name – the Name of the Environment that we can use (</a:t>
            </a:r>
            <a:r>
              <a:rPr lang="en-GB" dirty="0" err="1"/>
              <a:t>ie</a:t>
            </a:r>
            <a:r>
              <a:rPr lang="en-GB" dirty="0"/>
              <a:t>. Test, Dev..)</a:t>
            </a:r>
          </a:p>
          <a:p>
            <a:pPr lvl="1"/>
            <a:r>
              <a:rPr lang="en-GB" dirty="0"/>
              <a:t>App Name – </a:t>
            </a:r>
          </a:p>
          <a:p>
            <a:pPr lvl="1"/>
            <a:r>
              <a:rPr lang="en-GB" dirty="0"/>
              <a:t>App Release – Name of release</a:t>
            </a:r>
          </a:p>
          <a:p>
            <a:pPr lvl="1"/>
            <a:r>
              <a:rPr lang="en-GB" dirty="0"/>
              <a:t>Patch Version – Patch Version</a:t>
            </a:r>
          </a:p>
          <a:p>
            <a:pPr lvl="1"/>
            <a:r>
              <a:rPr lang="en-GB" dirty="0"/>
              <a:t>URL – URL to access the environment</a:t>
            </a:r>
          </a:p>
          <a:p>
            <a:pPr lvl="1"/>
            <a:r>
              <a:rPr lang="en-GB" dirty="0"/>
              <a:t>Default – if set to Yes this is the default value</a:t>
            </a:r>
          </a:p>
        </p:txBody>
      </p:sp>
    </p:spTree>
    <p:extLst>
      <p:ext uri="{BB962C8B-B14F-4D97-AF65-F5344CB8AC3E}">
        <p14:creationId xmlns:p14="http://schemas.microsoft.com/office/powerpoint/2010/main" val="3678376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50B4A-9CFE-70A4-5DCA-887C73966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TAUsers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EB3EE-53DE-C610-CB56-535D19E69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contains the user details that will be used for the scripts user defined fields are:</a:t>
            </a:r>
          </a:p>
          <a:p>
            <a:pPr lvl="1"/>
            <a:r>
              <a:rPr lang="en-GB" dirty="0"/>
              <a:t>ENV – Environment test run in (different environment can have different users</a:t>
            </a:r>
          </a:p>
          <a:p>
            <a:pPr lvl="1"/>
            <a:r>
              <a:rPr lang="en-GB" dirty="0"/>
              <a:t>Module – this is the module that the user can access </a:t>
            </a:r>
          </a:p>
          <a:p>
            <a:pPr lvl="1"/>
            <a:r>
              <a:rPr lang="en-GB" dirty="0" err="1"/>
              <a:t>UserRole</a:t>
            </a:r>
            <a:r>
              <a:rPr lang="en-GB" dirty="0"/>
              <a:t> – Name of the user role this will be the role the script calls</a:t>
            </a:r>
          </a:p>
          <a:p>
            <a:pPr lvl="1"/>
            <a:r>
              <a:rPr lang="en-GB" dirty="0"/>
              <a:t>Username – the login username </a:t>
            </a:r>
          </a:p>
          <a:p>
            <a:pPr lvl="1"/>
            <a:r>
              <a:rPr lang="en-GB" dirty="0" err="1"/>
              <a:t>UserPassword</a:t>
            </a:r>
            <a:r>
              <a:rPr lang="en-GB" dirty="0"/>
              <a:t> – that users password</a:t>
            </a:r>
          </a:p>
          <a:p>
            <a:pPr lvl="1"/>
            <a:r>
              <a:rPr lang="en-GB" dirty="0"/>
              <a:t>2FAType – if 2 factor authentication is set up</a:t>
            </a:r>
          </a:p>
          <a:p>
            <a:pPr lvl="1"/>
            <a:r>
              <a:rPr lang="en-GB" dirty="0"/>
              <a:t>Email – email address</a:t>
            </a:r>
          </a:p>
          <a:p>
            <a:pPr lvl="1"/>
            <a:r>
              <a:rPr lang="en-GB" dirty="0"/>
              <a:t>Email password – email password</a:t>
            </a:r>
          </a:p>
          <a:p>
            <a:pPr lvl="1"/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52088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210F4-2FFF-DA39-B785-C2B65F01E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MasterTestData</a:t>
            </a:r>
            <a:r>
              <a:rPr lang="en-GB" dirty="0"/>
              <a:t> – Spreadsheet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912F9-6FB7-D1D7-0540-3EE700324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 err="1"/>
              <a:t>MasterTestData</a:t>
            </a:r>
            <a:r>
              <a:rPr lang="en-GB" dirty="0"/>
              <a:t> spreadsheet holds the values for the given test to run and stores data In the case of it being needed later in the tests. This consist initially of worksheets:</a:t>
            </a:r>
          </a:p>
          <a:p>
            <a:pPr lvl="1"/>
            <a:r>
              <a:rPr lang="en-GB" dirty="0"/>
              <a:t> </a:t>
            </a:r>
            <a:r>
              <a:rPr lang="en-GB" dirty="0" err="1"/>
              <a:t>TAMasterTestData</a:t>
            </a:r>
            <a:endParaRPr lang="en-GB" dirty="0"/>
          </a:p>
          <a:p>
            <a:pPr lvl="1"/>
            <a:r>
              <a:rPr lang="en-GB" dirty="0" err="1"/>
              <a:t>TAGlobalTestData</a:t>
            </a:r>
            <a:endParaRPr lang="en-GB" dirty="0"/>
          </a:p>
          <a:p>
            <a:pPr lvl="1"/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226B7D-73B9-E36A-D6E1-71274E650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846" y="4132019"/>
            <a:ext cx="4988287" cy="1267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8805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4E51A-F82A-BC14-DFBD-38D3AF6C3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TAMasterTestData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A8396-2937-4B8B-6CF7-B849086B7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contains links for data and fields for items that occur during the running of the tests fields are as follows: </a:t>
            </a:r>
          </a:p>
          <a:p>
            <a:pPr lvl="1"/>
            <a:r>
              <a:rPr lang="en-GB" dirty="0"/>
              <a:t>Module – Modules data is to be used in</a:t>
            </a:r>
          </a:p>
          <a:p>
            <a:pPr lvl="1"/>
            <a:r>
              <a:rPr lang="en-GB" dirty="0" err="1"/>
              <a:t>MasterDataEntry</a:t>
            </a:r>
            <a:r>
              <a:rPr lang="en-GB" dirty="0"/>
              <a:t> – Field name that we will be looking for</a:t>
            </a:r>
          </a:p>
          <a:p>
            <a:pPr lvl="1"/>
            <a:r>
              <a:rPr lang="en-GB" dirty="0"/>
              <a:t>(columns for each env) – This is to ensure if different names across </a:t>
            </a:r>
            <a:r>
              <a:rPr lang="en-GB" dirty="0" err="1"/>
              <a:t>envs</a:t>
            </a:r>
            <a:r>
              <a:rPr lang="en-GB" dirty="0"/>
              <a:t> can be used without needing to change the spreadsheet</a:t>
            </a:r>
          </a:p>
          <a:p>
            <a:pPr lvl="1"/>
            <a:r>
              <a:rPr lang="en-GB" dirty="0" err="1"/>
              <a:t>TestScriptID</a:t>
            </a:r>
            <a:endParaRPr lang="en-GB" dirty="0"/>
          </a:p>
          <a:p>
            <a:pPr lvl="1"/>
            <a:r>
              <a:rPr lang="en-GB" dirty="0" err="1"/>
              <a:t>MasterDataEntity</a:t>
            </a:r>
            <a:r>
              <a:rPr lang="en-GB" dirty="0"/>
              <a:t> Description – Text field to describe the data being populated</a:t>
            </a:r>
          </a:p>
          <a:p>
            <a:pPr lvl="1"/>
            <a:r>
              <a:rPr lang="en-GB" dirty="0"/>
              <a:t>Comments -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72232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09839-0D33-C921-9D93-17F2A2BC0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TAGlobalTestData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02AC0-BC1D-E9DD-40E8-46B8DCF1A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page contains variables used in the testing:</a:t>
            </a:r>
          </a:p>
          <a:p>
            <a:pPr lvl="1"/>
            <a:r>
              <a:rPr lang="en-GB" dirty="0" err="1"/>
              <a:t>VariableName</a:t>
            </a:r>
            <a:r>
              <a:rPr lang="en-GB" dirty="0"/>
              <a:t> – Name of the Variable should be unique within this sheet</a:t>
            </a:r>
          </a:p>
          <a:p>
            <a:pPr lvl="1"/>
            <a:r>
              <a:rPr lang="en-GB" dirty="0"/>
              <a:t>Value – Value for the variable to be set to</a:t>
            </a:r>
          </a:p>
          <a:p>
            <a:pPr lvl="1"/>
            <a:r>
              <a:rPr lang="en-GB" dirty="0"/>
              <a:t>Script – Scripts the variable is used within</a:t>
            </a:r>
          </a:p>
          <a:p>
            <a:pPr lvl="1"/>
            <a:r>
              <a:rPr lang="en-GB" dirty="0"/>
              <a:t>Comments – Notes about the variable / uses or anything that will help</a:t>
            </a:r>
          </a:p>
        </p:txBody>
      </p:sp>
    </p:spTree>
    <p:extLst>
      <p:ext uri="{BB962C8B-B14F-4D97-AF65-F5344CB8AC3E}">
        <p14:creationId xmlns:p14="http://schemas.microsoft.com/office/powerpoint/2010/main" val="40055821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6DDB0-4864-0EFF-AE35-25FB84C9C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specific </a:t>
            </a:r>
            <a:r>
              <a:rPr lang="en-GB" dirty="0" err="1"/>
              <a:t>DataFiles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EEA28-D032-5D34-77F7-F9FAC81BE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The </a:t>
            </a:r>
            <a:r>
              <a:rPr lang="en-GB" dirty="0" err="1"/>
              <a:t>TestData</a:t>
            </a:r>
            <a:r>
              <a:rPr lang="en-GB" dirty="0"/>
              <a:t> spreadsheet name should consist of &lt;</a:t>
            </a:r>
            <a:r>
              <a:rPr lang="en-GB" dirty="0" err="1"/>
              <a:t>TestID</a:t>
            </a:r>
            <a:r>
              <a:rPr lang="en-GB" dirty="0"/>
              <a:t>&gt; _&lt;Batch File Name&gt; from Master Spreadsheet</a:t>
            </a:r>
          </a:p>
          <a:p>
            <a:r>
              <a:rPr lang="en-GB" dirty="0"/>
              <a:t>We can also have test specific data files these will contain the following:</a:t>
            </a:r>
          </a:p>
          <a:p>
            <a:pPr lvl="1"/>
            <a:r>
              <a:rPr lang="en-GB" dirty="0"/>
              <a:t>Iteration – If we need to loop through the same script a number of times we can have different data for each iteration</a:t>
            </a:r>
          </a:p>
          <a:p>
            <a:pPr lvl="1"/>
            <a:r>
              <a:rPr lang="en-GB" dirty="0"/>
              <a:t>URL – set to  {{ENV.OracleCloudApps.URL}} – this gets the Environment from the </a:t>
            </a:r>
            <a:r>
              <a:rPr lang="en-GB" dirty="0" err="1"/>
              <a:t>MasterDriver</a:t>
            </a:r>
            <a:r>
              <a:rPr lang="en-GB" dirty="0"/>
              <a:t> spreadsheet</a:t>
            </a:r>
          </a:p>
          <a:p>
            <a:pPr lvl="2"/>
            <a:r>
              <a:rPr lang="en-GB" dirty="0"/>
              <a:t>{{ }} indicate that it’s a variable we are picking up from somewhere else</a:t>
            </a:r>
          </a:p>
          <a:p>
            <a:pPr lvl="2"/>
            <a:r>
              <a:rPr lang="en-GB" dirty="0"/>
              <a:t>ENV – tells the system the environment we are using </a:t>
            </a:r>
          </a:p>
          <a:p>
            <a:pPr lvl="2"/>
            <a:r>
              <a:rPr lang="en-GB" dirty="0" err="1"/>
              <a:t>OracleCloudApps</a:t>
            </a:r>
            <a:r>
              <a:rPr lang="en-GB" dirty="0"/>
              <a:t> – is the App name</a:t>
            </a:r>
          </a:p>
          <a:p>
            <a:pPr lvl="2"/>
            <a:r>
              <a:rPr lang="en-GB" dirty="0"/>
              <a:t>URL is the field that we want to use.</a:t>
            </a:r>
          </a:p>
          <a:p>
            <a:pPr lvl="1"/>
            <a:r>
              <a:rPr lang="en-GB" dirty="0"/>
              <a:t>Username – set to {{ENV. </a:t>
            </a:r>
            <a:r>
              <a:rPr lang="en-GB" dirty="0" err="1"/>
              <a:t>OracleCloudApps</a:t>
            </a:r>
            <a:r>
              <a:rPr lang="en-GB" dirty="0"/>
              <a:t>.&lt; </a:t>
            </a:r>
            <a:r>
              <a:rPr lang="en-GB" dirty="0" err="1"/>
              <a:t>UserRole</a:t>
            </a:r>
            <a:r>
              <a:rPr lang="en-GB" dirty="0"/>
              <a:t> from the Master&gt;.Username}}</a:t>
            </a:r>
          </a:p>
          <a:p>
            <a:pPr lvl="1"/>
            <a:r>
              <a:rPr lang="en-GB" dirty="0"/>
              <a:t>Password – set to {{ENV. </a:t>
            </a:r>
            <a:r>
              <a:rPr lang="en-GB" dirty="0" err="1"/>
              <a:t>OracleCloudApps</a:t>
            </a:r>
            <a:r>
              <a:rPr lang="en-GB" dirty="0"/>
              <a:t>.&lt; </a:t>
            </a:r>
            <a:r>
              <a:rPr lang="en-GB" dirty="0" err="1"/>
              <a:t>UserRole</a:t>
            </a:r>
            <a:r>
              <a:rPr lang="en-GB" dirty="0"/>
              <a:t> from the Master&gt;.Password}} </a:t>
            </a:r>
          </a:p>
          <a:p>
            <a:pPr lvl="1"/>
            <a:r>
              <a:rPr lang="en-GB" dirty="0"/>
              <a:t>For any data that will be used during the Test will need to have a column created in this spreadsheet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14793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C9C95-E86B-265A-57BD-FEEEF62C3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Structure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E7F90-F56C-6294-7458-48572F498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script call components these will then call the POM which will have functions on it that relate to the page </a:t>
            </a:r>
          </a:p>
          <a:p>
            <a:r>
              <a:rPr lang="en-GB" dirty="0"/>
              <a:t>There will be one POM for each Page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22807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2ACA-90A8-2650-19E0-32D072CAF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ED7D0-D1D0-CA6F-C607-5854681DC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Components are </a:t>
            </a:r>
            <a:r>
              <a:rPr lang="en-GB" dirty="0" err="1"/>
              <a:t>metods</a:t>
            </a:r>
            <a:r>
              <a:rPr lang="en-GB" dirty="0"/>
              <a:t> that will be called based on the Script commands</a:t>
            </a:r>
          </a:p>
          <a:p>
            <a:r>
              <a:rPr lang="en-GB" dirty="0"/>
              <a:t>Each Component will be in the package </a:t>
            </a:r>
            <a:r>
              <a:rPr lang="en-GB" dirty="0" err="1"/>
              <a:t>osaas.comp</a:t>
            </a:r>
            <a:r>
              <a:rPr lang="en-GB" dirty="0"/>
              <a:t>.&lt;this will depend on the location and what the </a:t>
            </a:r>
            <a:r>
              <a:rPr lang="en-GB" dirty="0" err="1"/>
              <a:t>compontent</a:t>
            </a:r>
            <a:r>
              <a:rPr lang="en-GB" dirty="0"/>
              <a:t> is doing&gt;</a:t>
            </a:r>
          </a:p>
          <a:p>
            <a:r>
              <a:rPr lang="en-GB" dirty="0"/>
              <a:t>Each Component should have extended </a:t>
            </a:r>
            <a:r>
              <a:rPr lang="en-GB" dirty="0" err="1"/>
              <a:t>BaseComp</a:t>
            </a:r>
            <a:r>
              <a:rPr lang="en-GB" dirty="0"/>
              <a:t> within its class</a:t>
            </a:r>
          </a:p>
          <a:p>
            <a:r>
              <a:rPr lang="en-GB" dirty="0"/>
              <a:t>Start each Component with </a:t>
            </a:r>
            <a:r>
              <a:rPr lang="en-GB" dirty="0" err="1"/>
              <a:t>adf</a:t>
            </a:r>
            <a:r>
              <a:rPr lang="en-GB" dirty="0"/>
              <a:t> = new ADF(b);</a:t>
            </a:r>
          </a:p>
          <a:p>
            <a:r>
              <a:rPr lang="en-GB" dirty="0"/>
              <a:t>Create the POM for the page </a:t>
            </a:r>
            <a:r>
              <a:rPr lang="en-GB" dirty="0" err="1"/>
              <a:t>ie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Create …POM … = new …POM(</a:t>
            </a:r>
            <a:r>
              <a:rPr lang="en-GB" dirty="0" err="1"/>
              <a:t>adf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Load the </a:t>
            </a:r>
            <a:r>
              <a:rPr lang="en-GB" dirty="0" err="1"/>
              <a:t>testdata</a:t>
            </a:r>
            <a:r>
              <a:rPr lang="en-GB" dirty="0"/>
              <a:t> as a HashMap using the </a:t>
            </a:r>
            <a:r>
              <a:rPr lang="en-GB" dirty="0" err="1"/>
              <a:t>the</a:t>
            </a:r>
            <a:r>
              <a:rPr lang="en-GB" dirty="0"/>
              <a:t> columns defined on the POM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15676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CA53F-B195-4868-4C1E-40CB4F883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Components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1B34E-A1CE-5BD5-9B03-87782D3E6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Import Files for Components</a:t>
            </a:r>
          </a:p>
          <a:p>
            <a:pPr marL="0" marR="0"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apps;</a:t>
            </a:r>
          </a:p>
          <a:p>
            <a:pPr marL="0" marR="0">
              <a:buNone/>
            </a:pPr>
            <a:endParaRPr lang="en-GB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execution.settings.Settings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lib.files.TextFile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lib.files.xl.PoiXL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lib.gen.Browser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lib.gen.ScriptException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lib.reports.Debug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 indent="0"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lib.reports.Reporter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7389007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67886-D764-4E25-76FB-B977150C3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Setting up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373A7-53B2-2720-BA7C-BA416CEA5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Variables </a:t>
            </a:r>
          </a:p>
          <a:p>
            <a:pPr lvl="1"/>
            <a:r>
              <a:rPr lang="en-GB" dirty="0"/>
              <a:t>Setting up x-path</a:t>
            </a:r>
          </a:p>
          <a:p>
            <a:pPr lvl="1"/>
            <a:r>
              <a:rPr lang="en-GB" dirty="0"/>
              <a:t>In the example a button </a:t>
            </a:r>
            <a:r>
              <a:rPr lang="en-GB" dirty="0" err="1"/>
              <a:t>xpath</a:t>
            </a:r>
            <a:r>
              <a:rPr lang="en-GB" dirty="0"/>
              <a:t> may look like - </a:t>
            </a:r>
            <a:r>
              <a:rPr lang="en-GB" i="1" dirty="0"/>
              <a:t>//button[@id=“button_id”]</a:t>
            </a:r>
          </a:p>
          <a:p>
            <a:pPr lvl="1"/>
            <a:r>
              <a:rPr lang="en-GB" dirty="0"/>
              <a:t>This can be displayed on the java object as – </a:t>
            </a:r>
            <a:r>
              <a:rPr lang="en-GB" i="1" dirty="0"/>
              <a:t>“//button[{{ATTR}}=‘{{ATTRVALUE}}’]”;</a:t>
            </a:r>
          </a:p>
          <a:p>
            <a:pPr lvl="1"/>
            <a:endParaRPr lang="en-GB" i="1" dirty="0"/>
          </a:p>
          <a:p>
            <a:pPr marL="457200" lvl="1" indent="0">
              <a:buNone/>
            </a:pPr>
            <a:r>
              <a:rPr lang="en-GB" i="1" dirty="0"/>
              <a:t>This is how the pages objects are set up in the O.java</a:t>
            </a:r>
          </a:p>
          <a:p>
            <a:pPr marL="457200" lvl="1" indent="0">
              <a:buNone/>
            </a:pPr>
            <a:r>
              <a:rPr lang="en-GB" i="1" dirty="0"/>
              <a:t>In the POM file these can be set by calling a object </a:t>
            </a:r>
            <a:r>
              <a:rPr lang="en-GB" i="1" dirty="0" err="1"/>
              <a:t>ie</a:t>
            </a:r>
            <a:endParaRPr lang="en-GB" i="1" dirty="0"/>
          </a:p>
          <a:p>
            <a:pPr marL="457200" lvl="1" indent="0">
              <a:buNone/>
            </a:pPr>
            <a:r>
              <a:rPr lang="en-GB" i="1" dirty="0"/>
              <a:t>n</a:t>
            </a:r>
            <a:r>
              <a:rPr lang="en-GB" i="1"/>
              <a:t>ew </a:t>
            </a:r>
            <a:r>
              <a:rPr lang="en-GB" i="1" dirty="0"/>
              <a:t>O().</a:t>
            </a:r>
            <a:r>
              <a:rPr lang="en-GB" i="1" dirty="0" err="1"/>
              <a:t>setTitle</a:t>
            </a:r>
            <a:r>
              <a:rPr lang="en-GB" i="1" dirty="0"/>
              <a:t>(“title_1”);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66666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54334-B5CD-1B8B-03AB-28C910F89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Page Object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4BBEB-C83C-8AB5-2F32-17E6C7E51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Page object Model should be present for each page it will consist of the mappings for the page</a:t>
            </a:r>
          </a:p>
          <a:p>
            <a:pPr lvl="2">
              <a:lnSpc>
                <a:spcPts val="1350"/>
              </a:lnSpc>
              <a:buNone/>
            </a:pPr>
            <a:r>
              <a:rPr lang="en-GB" b="0" dirty="0">
                <a:solidFill>
                  <a:srgbClr val="AE2E24"/>
                </a:solidFill>
                <a:effectLst/>
                <a:latin typeface="var(--ds-font-family-code, ui-monospace, Menlo, 'Segoe UI Mono', 'Ubuntu Mono', monospace)"/>
              </a:rPr>
              <a:t>package</a:t>
            </a:r>
            <a:r>
              <a:rPr lang="en-GB" b="0" dirty="0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 </a:t>
            </a:r>
            <a:r>
              <a:rPr lang="en-GB" b="0" dirty="0" err="1">
                <a:solidFill>
                  <a:srgbClr val="172B4D"/>
                </a:solidFill>
                <a:effectLst/>
                <a:latin typeface="var(--ds-font-family-code, ui-monospace, Menlo, 'Segoe UI Mono', 'Ubuntu Mono', monospace)"/>
              </a:rPr>
              <a:t>osaas</a:t>
            </a:r>
            <a:r>
              <a:rPr lang="en-GB" b="0" dirty="0" err="1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.</a:t>
            </a:r>
            <a:r>
              <a:rPr lang="en-GB" b="0" dirty="0" err="1">
                <a:solidFill>
                  <a:srgbClr val="172B4D"/>
                </a:solidFill>
                <a:effectLst/>
                <a:latin typeface="var(--ds-font-family-code, ui-monospace, Menlo, 'Segoe UI Mono', 'Ubuntu Mono', monospace)"/>
              </a:rPr>
              <a:t>pos</a:t>
            </a:r>
            <a:r>
              <a:rPr lang="en-GB" b="0" dirty="0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.</a:t>
            </a:r>
            <a:r>
              <a:rPr lang="en-GB" dirty="0">
                <a:solidFill>
                  <a:srgbClr val="172B4D"/>
                </a:solidFill>
                <a:latin typeface="var(--ds-font-family-code, ui-monospace, Menlo, 'Segoe UI Mono', 'Ubuntu Mono', monospace)"/>
              </a:rPr>
              <a:t>&lt;area&gt;.&lt;</a:t>
            </a:r>
            <a:r>
              <a:rPr lang="en-GB" dirty="0" err="1">
                <a:solidFill>
                  <a:srgbClr val="000000"/>
                </a:solidFill>
                <a:latin typeface="var(--ds-font-family-code, ui-monospace, Menlo, 'Segoe UI Mono', 'Ubuntu Mono', monospace)"/>
              </a:rPr>
              <a:t>PackageName</a:t>
            </a:r>
            <a:r>
              <a:rPr lang="en-GB" dirty="0">
                <a:solidFill>
                  <a:srgbClr val="000000"/>
                </a:solidFill>
                <a:latin typeface="var(--ds-font-family-code, ui-monospace, Menlo, 'Segoe UI Mono', 'Ubuntu Mono', monospace)"/>
              </a:rPr>
              <a:t>&gt;</a:t>
            </a:r>
            <a:r>
              <a:rPr lang="en-GB" b="0" dirty="0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;</a:t>
            </a:r>
          </a:p>
          <a:p>
            <a:pPr lvl="2">
              <a:lnSpc>
                <a:spcPts val="1350"/>
              </a:lnSpc>
              <a:buNone/>
            </a:pPr>
            <a:endParaRPr lang="en-GB" b="0" dirty="0">
              <a:solidFill>
                <a:srgbClr val="AE2E24"/>
              </a:solidFill>
              <a:effectLst/>
              <a:latin typeface="var(--ds-font-family-code, ui-monospace, Menlo, 'Segoe UI Mono', 'Ubuntu Mono', monospace)"/>
            </a:endParaRPr>
          </a:p>
          <a:p>
            <a:pPr lvl="2">
              <a:lnSpc>
                <a:spcPts val="1350"/>
              </a:lnSpc>
              <a:buNone/>
            </a:pPr>
            <a:r>
              <a:rPr lang="en-GB" b="0" dirty="0">
                <a:solidFill>
                  <a:srgbClr val="AE2E24"/>
                </a:solidFill>
                <a:effectLst/>
                <a:latin typeface="var(--ds-font-family-code, ui-monospace, Menlo, 'Segoe UI Mono', 'Ubuntu Mono', monospace)"/>
              </a:rPr>
              <a:t>import</a:t>
            </a:r>
            <a:r>
              <a:rPr lang="en-GB" b="0" dirty="0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 </a:t>
            </a:r>
            <a:r>
              <a:rPr lang="en-GB" b="0" dirty="0" err="1">
                <a:solidFill>
                  <a:srgbClr val="172B4D"/>
                </a:solidFill>
                <a:effectLst/>
                <a:latin typeface="var(--ds-font-family-code, ui-monospace, Menlo, 'Segoe UI Mono', 'Ubuntu Mono', monospace)"/>
              </a:rPr>
              <a:t>apps</a:t>
            </a:r>
            <a:r>
              <a:rPr lang="en-GB" b="0" dirty="0" err="1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.</a:t>
            </a:r>
            <a:r>
              <a:rPr lang="en-GB" b="0" dirty="0" err="1">
                <a:solidFill>
                  <a:srgbClr val="172B4D"/>
                </a:solidFill>
                <a:effectLst/>
                <a:latin typeface="var(--ds-font-family-code, ui-monospace, Menlo, 'Segoe UI Mono', 'Ubuntu Mono', monospace)"/>
              </a:rPr>
              <a:t>web</a:t>
            </a:r>
            <a:r>
              <a:rPr lang="en-GB" b="0" dirty="0" err="1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.</a:t>
            </a:r>
            <a:r>
              <a:rPr lang="en-GB" b="0" dirty="0" err="1">
                <a:solidFill>
                  <a:srgbClr val="172B4D"/>
                </a:solidFill>
                <a:effectLst/>
                <a:latin typeface="var(--ds-font-family-code, ui-monospace, Menlo, 'Segoe UI Mono', 'Ubuntu Mono', monospace)"/>
              </a:rPr>
              <a:t>O</a:t>
            </a:r>
            <a:r>
              <a:rPr lang="en-GB" b="0" dirty="0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;</a:t>
            </a:r>
          </a:p>
          <a:p>
            <a:pPr lvl="2">
              <a:lnSpc>
                <a:spcPts val="1350"/>
              </a:lnSpc>
              <a:buNone/>
            </a:pPr>
            <a:r>
              <a:rPr lang="en-GB" b="0" dirty="0">
                <a:solidFill>
                  <a:srgbClr val="AE2E24"/>
                </a:solidFill>
                <a:effectLst/>
                <a:latin typeface="var(--ds-font-family-code, ui-monospace, Menlo, 'Segoe UI Mono', 'Ubuntu Mono', monospace)"/>
              </a:rPr>
              <a:t>import</a:t>
            </a:r>
            <a:r>
              <a:rPr lang="en-GB" b="0" dirty="0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 </a:t>
            </a:r>
            <a:r>
              <a:rPr lang="en-GB" b="0" dirty="0" err="1">
                <a:solidFill>
                  <a:srgbClr val="172B4D"/>
                </a:solidFill>
                <a:effectLst/>
                <a:latin typeface="var(--ds-font-family-code, ui-monospace, Menlo, 'Segoe UI Mono', 'Ubuntu Mono', monospace)"/>
              </a:rPr>
              <a:t>osaas</a:t>
            </a:r>
            <a:r>
              <a:rPr lang="en-GB" b="0" dirty="0" err="1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.</a:t>
            </a:r>
            <a:r>
              <a:rPr lang="en-GB" b="0" dirty="0" err="1">
                <a:solidFill>
                  <a:srgbClr val="172B4D"/>
                </a:solidFill>
                <a:effectLst/>
                <a:latin typeface="var(--ds-font-family-code, ui-monospace, Menlo, 'Segoe UI Mono', 'Ubuntu Mono', monospace)"/>
              </a:rPr>
              <a:t>pos</a:t>
            </a:r>
            <a:r>
              <a:rPr lang="en-GB" b="0" dirty="0" err="1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.</a:t>
            </a:r>
            <a:r>
              <a:rPr lang="en-GB" b="0" dirty="0" err="1">
                <a:solidFill>
                  <a:srgbClr val="172B4D"/>
                </a:solidFill>
                <a:effectLst/>
                <a:latin typeface="var(--ds-font-family-code, ui-monospace, Menlo, 'Segoe UI Mono', 'Ubuntu Mono', monospace)"/>
              </a:rPr>
              <a:t>ADFPO</a:t>
            </a:r>
            <a:r>
              <a:rPr lang="en-GB" b="0" dirty="0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;</a:t>
            </a:r>
          </a:p>
          <a:p>
            <a:pPr lvl="2">
              <a:lnSpc>
                <a:spcPts val="1350"/>
              </a:lnSpc>
              <a:buNone/>
            </a:pPr>
            <a:r>
              <a:rPr lang="en-GB" b="0" dirty="0">
                <a:solidFill>
                  <a:srgbClr val="AE2E24"/>
                </a:solidFill>
                <a:effectLst/>
                <a:latin typeface="var(--ds-font-family-code, ui-monospace, Menlo, 'Segoe UI Mono', 'Ubuntu Mono', monospace)"/>
              </a:rPr>
              <a:t>import</a:t>
            </a:r>
            <a:r>
              <a:rPr lang="en-GB" b="0" dirty="0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 </a:t>
            </a:r>
            <a:r>
              <a:rPr lang="en-GB" b="0" dirty="0" err="1">
                <a:solidFill>
                  <a:srgbClr val="172B4D"/>
                </a:solidFill>
                <a:effectLst/>
                <a:latin typeface="var(--ds-font-family-code, ui-monospace, Menlo, 'Segoe UI Mono', 'Ubuntu Mono', monospace)"/>
              </a:rPr>
              <a:t>osaas</a:t>
            </a:r>
            <a:r>
              <a:rPr lang="en-GB" b="0" dirty="0" err="1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.</a:t>
            </a:r>
            <a:r>
              <a:rPr lang="en-GB" b="0" dirty="0" err="1">
                <a:solidFill>
                  <a:srgbClr val="172B4D"/>
                </a:solidFill>
                <a:effectLst/>
                <a:latin typeface="var(--ds-font-family-code, ui-monospace, Menlo, 'Segoe UI Mono', 'Ubuntu Mono', monospace)"/>
              </a:rPr>
              <a:t>ui</a:t>
            </a:r>
            <a:r>
              <a:rPr lang="en-GB" b="0" dirty="0" err="1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.</a:t>
            </a:r>
            <a:r>
              <a:rPr lang="en-GB" b="0" dirty="0" err="1">
                <a:solidFill>
                  <a:srgbClr val="172B4D"/>
                </a:solidFill>
                <a:effectLst/>
                <a:latin typeface="var(--ds-font-family-code, ui-monospace, Menlo, 'Segoe UI Mono', 'Ubuntu Mono', monospace)"/>
              </a:rPr>
              <a:t>ADF</a:t>
            </a:r>
            <a:r>
              <a:rPr lang="en-GB" b="0" dirty="0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;</a:t>
            </a:r>
          </a:p>
          <a:p>
            <a:pPr marL="914400" lvl="2" indent="0">
              <a:lnSpc>
                <a:spcPts val="1350"/>
              </a:lnSpc>
              <a:buNone/>
            </a:pPr>
            <a:r>
              <a:rPr lang="en-GB" b="0" dirty="0">
                <a:solidFill>
                  <a:srgbClr val="AE2E24"/>
                </a:solidFill>
                <a:effectLst/>
                <a:latin typeface="var(--ds-font-family-code, ui-monospace, Menlo, 'Segoe UI Mono', 'Ubuntu Mono', monospace)"/>
              </a:rPr>
              <a:t>import</a:t>
            </a:r>
            <a:r>
              <a:rPr lang="en-GB" b="0" dirty="0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 </a:t>
            </a:r>
            <a:r>
              <a:rPr lang="en-GB" b="0" dirty="0" err="1">
                <a:solidFill>
                  <a:srgbClr val="172B4D"/>
                </a:solidFill>
                <a:effectLst/>
                <a:latin typeface="var(--ds-font-family-code, ui-monospace, Menlo, 'Segoe UI Mono', 'Ubuntu Mono', monospace)"/>
              </a:rPr>
              <a:t>osaas</a:t>
            </a:r>
            <a:r>
              <a:rPr lang="en-GB" b="0" dirty="0" err="1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.</a:t>
            </a:r>
            <a:r>
              <a:rPr lang="en-GB" b="0" dirty="0" err="1">
                <a:solidFill>
                  <a:srgbClr val="172B4D"/>
                </a:solidFill>
                <a:effectLst/>
                <a:latin typeface="var(--ds-font-family-code, ui-monospace, Menlo, 'Segoe UI Mono', 'Ubuntu Mono', monospace)"/>
              </a:rPr>
              <a:t>ui</a:t>
            </a:r>
            <a:r>
              <a:rPr lang="en-GB" b="0" dirty="0" err="1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.</a:t>
            </a:r>
            <a:r>
              <a:rPr lang="en-GB" b="0" dirty="0" err="1">
                <a:solidFill>
                  <a:srgbClr val="172B4D"/>
                </a:solidFill>
                <a:effectLst/>
                <a:latin typeface="var(--ds-font-family-code, ui-monospace, Menlo, 'Segoe UI Mono', 'Ubuntu Mono', monospace)"/>
              </a:rPr>
              <a:t>OO</a:t>
            </a:r>
            <a:r>
              <a:rPr lang="en-GB" b="0" dirty="0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;</a:t>
            </a:r>
          </a:p>
          <a:p>
            <a:pPr marL="914400" lvl="2" indent="0">
              <a:lnSpc>
                <a:spcPts val="1350"/>
              </a:lnSpc>
              <a:buNone/>
            </a:pPr>
            <a:endParaRPr lang="en-GB" dirty="0">
              <a:solidFill>
                <a:srgbClr val="000000"/>
              </a:solidFill>
              <a:latin typeface="var(--ds-font-family-code, ui-monospace, Menlo, 'Segoe UI Mono', 'Ubuntu Mono', monospace)"/>
            </a:endParaRPr>
          </a:p>
          <a:p>
            <a:pPr marL="914400" lvl="2" indent="0">
              <a:lnSpc>
                <a:spcPts val="1350"/>
              </a:lnSpc>
              <a:buNone/>
            </a:pPr>
            <a:r>
              <a:rPr lang="en-GB" b="0" dirty="0">
                <a:solidFill>
                  <a:srgbClr val="AE2E24"/>
                </a:solidFill>
                <a:effectLst/>
                <a:latin typeface="var(--ds-font-family-code, ui-monospace, Menlo, 'Segoe UI Mono', 'Ubuntu Mono', monospace)"/>
              </a:rPr>
              <a:t>public</a:t>
            </a:r>
            <a:r>
              <a:rPr lang="en-GB" b="0" dirty="0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 </a:t>
            </a:r>
            <a:r>
              <a:rPr lang="en-GB" b="0" dirty="0">
                <a:solidFill>
                  <a:srgbClr val="AE2E24"/>
                </a:solidFill>
                <a:effectLst/>
                <a:latin typeface="var(--ds-font-family-code, ui-monospace, Menlo, 'Segoe UI Mono', 'Ubuntu Mono', monospace)"/>
              </a:rPr>
              <a:t>class</a:t>
            </a:r>
            <a:r>
              <a:rPr lang="en-GB" b="0" dirty="0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 </a:t>
            </a:r>
            <a:r>
              <a:rPr lang="en-GB" b="0" dirty="0">
                <a:solidFill>
                  <a:srgbClr val="172B4D"/>
                </a:solidFill>
                <a:effectLst/>
                <a:latin typeface="var(--ds-font-family-code, ui-monospace, Menlo, 'Segoe UI Mono', 'Ubuntu Mono', monospace)"/>
              </a:rPr>
              <a:t>&lt;</a:t>
            </a:r>
            <a:r>
              <a:rPr lang="en-GB" b="0" dirty="0" err="1">
                <a:solidFill>
                  <a:srgbClr val="172B4D"/>
                </a:solidFill>
                <a:effectLst/>
                <a:latin typeface="var(--ds-font-family-code, ui-monospace, Menlo, 'Segoe UI Mono', 'Ubuntu Mono', monospace)"/>
              </a:rPr>
              <a:t>PageName</a:t>
            </a:r>
            <a:r>
              <a:rPr lang="en-GB" b="0" dirty="0">
                <a:solidFill>
                  <a:srgbClr val="172B4D"/>
                </a:solidFill>
                <a:effectLst/>
                <a:latin typeface="var(--ds-font-family-code, ui-monospace, Menlo, 'Segoe UI Mono', 'Ubuntu Mono', monospace)"/>
              </a:rPr>
              <a:t>&gt;POM</a:t>
            </a:r>
            <a:r>
              <a:rPr lang="en-GB" b="0" dirty="0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 </a:t>
            </a:r>
            <a:r>
              <a:rPr lang="en-GB" b="0" dirty="0">
                <a:solidFill>
                  <a:srgbClr val="AE2E24"/>
                </a:solidFill>
                <a:effectLst/>
                <a:latin typeface="var(--ds-font-family-code, ui-monospace, Menlo, 'Segoe UI Mono', 'Ubuntu Mono', monospace)"/>
              </a:rPr>
              <a:t>extends</a:t>
            </a:r>
            <a:r>
              <a:rPr lang="en-GB" b="0" dirty="0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 </a:t>
            </a:r>
            <a:r>
              <a:rPr lang="en-GB" b="0" dirty="0">
                <a:solidFill>
                  <a:srgbClr val="172B4D"/>
                </a:solidFill>
                <a:effectLst/>
                <a:latin typeface="var(--ds-font-family-code, ui-monospace, Menlo, 'Segoe UI Mono', 'Ubuntu Mono', monospace)"/>
              </a:rPr>
              <a:t>ADFPO</a:t>
            </a:r>
            <a:r>
              <a:rPr lang="en-GB" b="0" dirty="0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 {</a:t>
            </a:r>
          </a:p>
          <a:p>
            <a:pPr marL="914400" lvl="2" indent="0">
              <a:lnSpc>
                <a:spcPts val="1350"/>
              </a:lnSpc>
              <a:buNone/>
            </a:pPr>
            <a:endParaRPr lang="en-GB" b="0" dirty="0">
              <a:solidFill>
                <a:srgbClr val="000000"/>
              </a:solidFill>
              <a:effectLst/>
              <a:latin typeface="var(--ds-font-family-code, ui-monospace, Menlo, 'Segoe UI Mono', 'Ubuntu Mono', monospace)"/>
            </a:endParaRP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09898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A6E9C-6931-86B7-0687-2A4569BEF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93DB2-5891-4B6A-8860-4436D4319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4601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1730</TotalTime>
  <Words>1457</Words>
  <Application>Microsoft Office PowerPoint</Application>
  <PresentationFormat>Widescreen</PresentationFormat>
  <Paragraphs>210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7" baseType="lpstr">
      <vt:lpstr>Aptos</vt:lpstr>
      <vt:lpstr>Aptos Display</vt:lpstr>
      <vt:lpstr>Aptos Narrow</vt:lpstr>
      <vt:lpstr>Arial</vt:lpstr>
      <vt:lpstr>Century Gothic</vt:lpstr>
      <vt:lpstr>Consolas</vt:lpstr>
      <vt:lpstr>Mulish</vt:lpstr>
      <vt:lpstr>OracleSansVF</vt:lpstr>
      <vt:lpstr>SourceSansPro</vt:lpstr>
      <vt:lpstr>ui-sans-serif</vt:lpstr>
      <vt:lpstr>var(--ds-font-family-code, ui-monospace, Menlo, 'Segoe UI Mono', 'Ubuntu Mono', monospace)</vt:lpstr>
      <vt:lpstr>Office Theme</vt:lpstr>
      <vt:lpstr>Training Notes</vt:lpstr>
      <vt:lpstr>Terminology (ERP)</vt:lpstr>
      <vt:lpstr>Terminology (CRM)</vt:lpstr>
      <vt:lpstr>Terminology (HCM)</vt:lpstr>
      <vt:lpstr>Terminology (P2P)</vt:lpstr>
      <vt:lpstr>Framework / Repositories</vt:lpstr>
      <vt:lpstr>PowerPoint Presentation</vt:lpstr>
      <vt:lpstr>Customer Repository</vt:lpstr>
      <vt:lpstr>PowerPoint Presentation</vt:lpstr>
      <vt:lpstr>Automation Test Script process</vt:lpstr>
      <vt:lpstr>Spreadsheet Master - Overview</vt:lpstr>
      <vt:lpstr>TAScripts</vt:lpstr>
      <vt:lpstr>TAComponents</vt:lpstr>
      <vt:lpstr>TAEnvURLs</vt:lpstr>
      <vt:lpstr>TAUsers</vt:lpstr>
      <vt:lpstr>MasterTestData – Spreadsheet</vt:lpstr>
      <vt:lpstr>TAMasterTestData</vt:lpstr>
      <vt:lpstr>TAGlobalTestData</vt:lpstr>
      <vt:lpstr>Test specific DataFiles</vt:lpstr>
      <vt:lpstr>Structure </vt:lpstr>
      <vt:lpstr>Components</vt:lpstr>
      <vt:lpstr>Components part 2</vt:lpstr>
      <vt:lpstr>Setting up variables</vt:lpstr>
      <vt:lpstr>Page Object Model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Ede</dc:creator>
  <cp:lastModifiedBy>Daniel Ede</cp:lastModifiedBy>
  <cp:revision>2</cp:revision>
  <dcterms:created xsi:type="dcterms:W3CDTF">2025-03-11T09:30:08Z</dcterms:created>
  <dcterms:modified xsi:type="dcterms:W3CDTF">2025-03-17T13:19:30Z</dcterms:modified>
</cp:coreProperties>
</file>